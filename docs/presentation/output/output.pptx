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ffd0fb76944ef6" /><Relationship Type="http://schemas.openxmlformats.org/officeDocument/2006/relationships/extended-properties" Target="/docProps/app.xml" Id="Rfc63a954a13846fb" /><Relationship Type="http://schemas.openxmlformats.org/officeDocument/2006/relationships/officeDocument" Target="/ppt/presentation.xml" Id="R2d5b08684a5843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5e8c84e7c9442c"/>
  </p:sldMasterIdLst>
  <p:notesMasterIdLst>
    <p:notesMasterId xmlns:r="http://schemas.openxmlformats.org/officeDocument/2006/relationships" r:id="Rd12f2cd0e6bb4f92"/>
  </p:notesMasterIdLst>
  <p:sldIdLst>
    <p:sldId xmlns:r="http://schemas.openxmlformats.org/officeDocument/2006/relationships" id="256" r:id="R20a656d22e594d9d"/>
    <p:sldId xmlns:r="http://schemas.openxmlformats.org/officeDocument/2006/relationships" id="257" r:id="Ra4764259b5444827"/>
    <p:sldId xmlns:r="http://schemas.openxmlformats.org/officeDocument/2006/relationships" id="258" r:id="R7f77d3f0bb314be1"/>
    <p:sldId xmlns:r="http://schemas.openxmlformats.org/officeDocument/2006/relationships" id="259" r:id="R6c682a1203754b7a"/>
    <p:sldId xmlns:r="http://schemas.openxmlformats.org/officeDocument/2006/relationships" id="260" r:id="Rc7c7d5bc40784d0a"/>
    <p:sldId xmlns:r="http://schemas.openxmlformats.org/officeDocument/2006/relationships" id="261" r:id="R6ed49a5aec9148b5"/>
    <p:sldId xmlns:r="http://schemas.openxmlformats.org/officeDocument/2006/relationships" id="262" r:id="R576d56d95d8d4ffd"/>
    <p:sldId xmlns:r="http://schemas.openxmlformats.org/officeDocument/2006/relationships" id="263" r:id="R6369b82885f44b6d"/>
    <p:sldId xmlns:r="http://schemas.openxmlformats.org/officeDocument/2006/relationships" id="264" r:id="R057cdde557074258"/>
    <p:sldId xmlns:r="http://schemas.openxmlformats.org/officeDocument/2006/relationships" id="265" r:id="R67fcab1bbdbc43db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5e8c84e7c9442c" /><Relationship Type="http://schemas.openxmlformats.org/officeDocument/2006/relationships/theme" Target="/ppt/theme/theme1.xml" Id="R49211dcac36e40b7" /><Relationship Type="http://schemas.openxmlformats.org/officeDocument/2006/relationships/notesMaster" Target="/ppt/notesMasters/notesMaster1.xml" Id="Rd12f2cd0e6bb4f92" /><Relationship Type="http://schemas.openxmlformats.org/officeDocument/2006/relationships/presProps" Target="/ppt/presProps.xml" Id="R4cad5a66a81a4ed0" /><Relationship Type="http://schemas.openxmlformats.org/officeDocument/2006/relationships/viewProps" Target="/ppt/viewProps.xml" Id="R14e6141b1e97435a" /><Relationship Type="http://schemas.openxmlformats.org/officeDocument/2006/relationships/tableStyles" Target="/ppt/tableStyles.xml" Id="R88d80367fe414472" /><Relationship Type="http://schemas.openxmlformats.org/officeDocument/2006/relationships/slide" Target="/ppt/slides/slide1.xml" Id="R20a656d22e594d9d" /><Relationship Type="http://schemas.openxmlformats.org/officeDocument/2006/relationships/slide" Target="/ppt/slides/slide2.xml" Id="Ra4764259b5444827" /><Relationship Type="http://schemas.openxmlformats.org/officeDocument/2006/relationships/slide" Target="/ppt/slides/slide3.xml" Id="R7f77d3f0bb314be1" /><Relationship Type="http://schemas.openxmlformats.org/officeDocument/2006/relationships/slide" Target="/ppt/slides/slide4.xml" Id="R6c682a1203754b7a" /><Relationship Type="http://schemas.openxmlformats.org/officeDocument/2006/relationships/slide" Target="/ppt/slides/slide5.xml" Id="Rc7c7d5bc40784d0a" /><Relationship Type="http://schemas.openxmlformats.org/officeDocument/2006/relationships/slide" Target="/ppt/slides/slide6.xml" Id="R6ed49a5aec9148b5" /><Relationship Type="http://schemas.openxmlformats.org/officeDocument/2006/relationships/slide" Target="/ppt/slides/slide7.xml" Id="R576d56d95d8d4ffd" /><Relationship Type="http://schemas.openxmlformats.org/officeDocument/2006/relationships/slide" Target="/ppt/slides/slide8.xml" Id="R6369b82885f44b6d" /><Relationship Type="http://schemas.openxmlformats.org/officeDocument/2006/relationships/slide" Target="/ppt/slides/slide9.xml" Id="R057cdde557074258" /><Relationship Type="http://schemas.openxmlformats.org/officeDocument/2006/relationships/slide" Target="/ppt/slides/slide10.xml" Id="R67fcab1bbdbc43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ad52aa1058843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e5890cf0964726" /><Relationship Type="http://schemas.openxmlformats.org/officeDocument/2006/relationships/notesMaster" Target="/ppt/notesMasters/notesMaster1.xml" Id="R3c384d2291b54b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b62269e47140ba" /><Relationship Type="http://schemas.openxmlformats.org/officeDocument/2006/relationships/notesMaster" Target="/ppt/notesMasters/notesMaster1.xml" Id="Rd6f929bb80ab41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3b053b478d41a5" /><Relationship Type="http://schemas.openxmlformats.org/officeDocument/2006/relationships/notesMaster" Target="/ppt/notesMasters/notesMaster1.xml" Id="R75c7099fdea64f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6a545607d94574" /><Relationship Type="http://schemas.openxmlformats.org/officeDocument/2006/relationships/notesMaster" Target="/ppt/notesMasters/notesMaster1.xml" Id="R6663fddad9d94d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7b75fd708b4471" /><Relationship Type="http://schemas.openxmlformats.org/officeDocument/2006/relationships/notesMaster" Target="/ppt/notesMasters/notesMaster1.xml" Id="R3d0f490b527b47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304de7f0c943ee" /><Relationship Type="http://schemas.openxmlformats.org/officeDocument/2006/relationships/notesMaster" Target="/ppt/notesMasters/notesMaster1.xml" Id="R7e27a4eace6e4c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eaa5bbd0b545b7" /><Relationship Type="http://schemas.openxmlformats.org/officeDocument/2006/relationships/notesMaster" Target="/ppt/notesMasters/notesMaster1.xml" Id="R82c97c9662b745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a45e176ff24eeb" /><Relationship Type="http://schemas.openxmlformats.org/officeDocument/2006/relationships/notesMaster" Target="/ppt/notesMasters/notesMaster1.xml" Id="Ra8e82d9c582949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6f7f207ea64383" /><Relationship Type="http://schemas.openxmlformats.org/officeDocument/2006/relationships/notesMaster" Target="/ppt/notesMasters/notesMaster1.xml" Id="Rea0f6e297f3645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15ad83c8b264433" /><Relationship Type="http://schemas.openxmlformats.org/officeDocument/2006/relationships/notesMaster" Target="/ppt/notesMasters/notesMaster1.xml" Id="R79a3efaa7d7841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58bd05906545e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08c0138491045ba" /><Relationship Type="http://schemas.openxmlformats.org/officeDocument/2006/relationships/slideLayout" Target="/ppt/slideLayouts/slideLayout2.xml" Id="Re258f26c19b34b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58f26c19b34b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ee67eebfff4ce5" /><Relationship Type="http://schemas.openxmlformats.org/officeDocument/2006/relationships/notesSlide" Target="/ppt/notesSlides/notesSlide1.xml" Id="R13f37b3708cf4c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ce972ebc624619" /><Relationship Type="http://schemas.openxmlformats.org/officeDocument/2006/relationships/notesSlide" Target="/ppt/notesSlides/notesSlide2.xml" Id="R088fb32685fc4e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8d40e85844488f" /><Relationship Type="http://schemas.openxmlformats.org/officeDocument/2006/relationships/notesSlide" Target="/ppt/notesSlides/notesSlide3.xml" Id="Reaf014719e6148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2eac99c2d24a2b" /><Relationship Type="http://schemas.openxmlformats.org/officeDocument/2006/relationships/notesSlide" Target="/ppt/notesSlides/notesSlide4.xml" Id="Rb74ea067ca7740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694a9dc7924699" /><Relationship Type="http://schemas.openxmlformats.org/officeDocument/2006/relationships/notesSlide" Target="/ppt/notesSlides/notesSlide5.xml" Id="Rafd2fc9ef6354c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46751608004951" /><Relationship Type="http://schemas.openxmlformats.org/officeDocument/2006/relationships/notesSlide" Target="/ppt/notesSlides/notesSlide6.xml" Id="R8791b526eccc46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ae4e1e12ee43f0" /><Relationship Type="http://schemas.openxmlformats.org/officeDocument/2006/relationships/notesSlide" Target="/ppt/notesSlides/notesSlide7.xml" Id="R1eadf886cf6047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d1b70ef4ec47b4" /><Relationship Type="http://schemas.openxmlformats.org/officeDocument/2006/relationships/notesSlide" Target="/ppt/notesSlides/notesSlide8.xml" Id="R0a64f25f5ec545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7658685d074abc" /><Relationship Type="http://schemas.openxmlformats.org/officeDocument/2006/relationships/notesSlide" Target="/ppt/notesSlides/notesSlide9.xml" Id="R2e0db34a61954d9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42ee3c72eb4372" /><Relationship Type="http://schemas.openxmlformats.org/officeDocument/2006/relationships/notesSlide" Target="/ppt/notesSlides/notesSlide10.xml" Id="R32a24351c0ee41c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background">
            <a:extLst xmlns:a="http://schemas.openxmlformats.org/drawingml/2006/main">
              <a:ext uri="{FF2B5EF4-FFF2-40B4-BE49-F238E27FC236}">
                <a16:creationId xmlns:a16="http://schemas.microsoft.com/office/drawing/2014/main" id="{39CB1BBE-466B-43F3-B72C-060EB85F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oundRect">
            <a:avLst>
              <a:gd name="adj" fmla="val 741"/>
            </a:avLst>
          </a:prstGeom>
          <a:solidFill xmlns:a="http://schemas.openxmlformats.org/drawingml/2006/main">
            <a:srgbClr val="080A0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label-mern-garage-system">
            <a:extLst xmlns:a="http://schemas.openxmlformats.org/drawingml/2006/main">
              <a:ext uri="{FF2B5EF4-FFF2-40B4-BE49-F238E27FC236}">
                <a16:creationId xmlns:a16="http://schemas.microsoft.com/office/drawing/2014/main" id="{8840E15C-76BC-4CA4-9ECD-4FD14785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278130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684065-EF94-4623-82C4-B937D4DE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00100"/>
            <a:ext cx="2476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59E0B"/>
                </a:solidFill>
              </a:defRPr>
            </a:pPr>
            <a:r>
              <a:rPr sz="1275" b="1" i="0">
                <a:solidFill>
                  <a:srgbClr val="F59E0B"/>
                </a:solidFill>
              </a:rPr>
              <a:t>MERN GARAGE SYSTEM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9239D91-AEE9-44E2-BA69-2AC41DF5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76350"/>
            <a:ext cx="94678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050" b="1" i="0">
                <a:solidFill>
                  <a:srgbClr val="F1F5F9"/>
                </a:solidFill>
              </a:defRPr>
            </a:pPr>
            <a:r>
              <a:rPr sz="7050" b="1" i="0">
                <a:solidFill>
                  <a:srgbClr val="F1F5F9"/>
                </a:solidFill>
              </a:rPr>
              <a:t>Repair Manager</a:t>
            </a:r>
          </a:p>
        </p:txBody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AF31B305-BE65-4371-B254-5AFBE715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28803955-19EF-4339-A7FF-2497399B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8572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94A3B8"/>
                </a:solidFill>
              </a:defRPr>
            </a:pPr>
            <a:r>
              <a:rPr sz="2325" b="0" i="0">
                <a:solidFill>
                  <a:srgbClr val="94A3B8"/>
                </a:solidFill>
              </a:rPr>
              <a:t>A secure website for managing customers, vehicles, repair jobs, costs, and customer tracking codes.</a:t>
            </a:r>
          </a:p>
        </p:txBody>
      </p:sp>
      <p:sp>
        <p:nvSpPr>
          <p:cNvPr id="7" name="cover-artifact">
            <a:extLst xmlns:a="http://schemas.openxmlformats.org/drawingml/2006/main">
              <a:ext uri="{FF2B5EF4-FFF2-40B4-BE49-F238E27FC236}">
                <a16:creationId xmlns:a16="http://schemas.microsoft.com/office/drawing/2014/main" id="{D75C2E7A-8BF7-4CEE-A63C-518A4C6B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698" y="723900"/>
            <a:ext cx="6584252" cy="8353425"/>
          </a:xfrm>
          <a:prstGeom xmlns:a="http://schemas.openxmlformats.org/drawingml/2006/main" prst="roundRect">
            <a:avLst>
              <a:gd name="adj" fmla="val 1157"/>
            </a:avLst>
          </a:prstGeom>
          <a:solidFill xmlns:a="http://schemas.openxmlformats.org/drawingml/2006/main">
            <a:srgbClr val="0F1117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artifact-brand">
            <a:extLst xmlns:a="http://schemas.openxmlformats.org/drawingml/2006/main">
              <a:ext uri="{FF2B5EF4-FFF2-40B4-BE49-F238E27FC236}">
                <a16:creationId xmlns:a16="http://schemas.microsoft.com/office/drawing/2014/main" id="{97E5C179-6AE9-4DB9-8134-B04F651D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1047750"/>
            <a:ext cx="4991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F1F5F9"/>
                </a:solidFill>
              </a:defRPr>
            </a:pPr>
            <a:r>
              <a:rPr sz="2325" b="1" i="0">
                <a:solidFill>
                  <a:srgbClr val="F1F5F9"/>
                </a:solidFill>
              </a:rPr>
              <a:t>RepairMGR</a:t>
            </a:r>
          </a:p>
        </p:txBody>
      </p:sp>
      <p:sp>
        <p:nvSpPr>
          <p:cNvPr id="9" name="artifact-token">
            <a:extLst xmlns:a="http://schemas.openxmlformats.org/drawingml/2006/main">
              <a:ext uri="{FF2B5EF4-FFF2-40B4-BE49-F238E27FC236}">
                <a16:creationId xmlns:a16="http://schemas.microsoft.com/office/drawing/2014/main" id="{99102F7D-EA79-410B-BA40-B2E5A0D1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1047750"/>
            <a:ext cx="800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59E0B"/>
                </a:solidFill>
              </a:defRPr>
            </a:pPr>
            <a:r>
              <a:rPr sz="1350" b="0" i="0">
                <a:solidFill>
                  <a:srgbClr val="F59E0B"/>
                </a:solidFill>
              </a:rPr>
              <a:t>JWT</a:t>
            </a:r>
          </a:p>
        </p:txBody>
      </p:sp>
      <p:sp>
        <p:nvSpPr>
          <p:cNvPr id="10" name="artifact-rule">
            <a:extLst xmlns:a="http://schemas.openxmlformats.org/drawingml/2006/main">
              <a:ext uri="{FF2B5EF4-FFF2-40B4-BE49-F238E27FC236}">
                <a16:creationId xmlns:a16="http://schemas.microsoft.com/office/drawing/2014/main" id="{CE8E655D-8407-42A2-90F7-0F3B1EE0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156210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kpi-open">
            <a:extLst xmlns:a="http://schemas.openxmlformats.org/drawingml/2006/main">
              <a:ext uri="{FF2B5EF4-FFF2-40B4-BE49-F238E27FC236}">
                <a16:creationId xmlns:a16="http://schemas.microsoft.com/office/drawing/2014/main" id="{941C5EEA-8FD4-4860-A881-1CC98EFB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5598" y="1781175"/>
            <a:ext cx="5898452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9E0B">
              <a:alpha val="16000"/>
            </a:srgbClr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kpi-open-num">
            <a:extLst xmlns:a="http://schemas.openxmlformats.org/drawingml/2006/main">
              <a:ext uri="{FF2B5EF4-FFF2-40B4-BE49-F238E27FC236}">
                <a16:creationId xmlns:a16="http://schemas.microsoft.com/office/drawing/2014/main" id="{67A24238-6367-4BC0-BE07-566CBC18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962150"/>
            <a:ext cx="857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F59E0B"/>
                </a:solidFill>
              </a:defRPr>
            </a:pPr>
            <a:r>
              <a:rPr sz="3600" b="1" i="0">
                <a:solidFill>
                  <a:srgbClr val="F59E0B"/>
                </a:solidFill>
              </a:rPr>
              <a:t>06</a:t>
            </a:r>
          </a:p>
        </p:txBody>
      </p:sp>
      <p:sp>
        <p:nvSpPr>
          <p:cNvPr id="13" name="kpi-open-label">
            <a:extLst xmlns:a="http://schemas.openxmlformats.org/drawingml/2006/main">
              <a:ext uri="{FF2B5EF4-FFF2-40B4-BE49-F238E27FC236}">
                <a16:creationId xmlns:a16="http://schemas.microsoft.com/office/drawing/2014/main" id="{949A0671-489E-4454-88B0-8F31C9F3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1962150"/>
            <a:ext cx="4419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F1F5F9"/>
                </a:solidFill>
              </a:defRPr>
            </a:pPr>
            <a:r>
              <a:rPr sz="1575" b="0" i="0">
                <a:solidFill>
                  <a:srgbClr val="F1F5F9"/>
                </a:solidFill>
              </a:rPr>
              <a:t>Dashboard metrics for garage workload and revenue visibility</a:t>
            </a:r>
          </a:p>
        </p:txBody>
      </p:sp>
      <p:sp>
        <p:nvSpPr>
          <p:cNvPr id="14" name="kpi-flow">
            <a:extLst xmlns:a="http://schemas.openxmlformats.org/drawingml/2006/main">
              <a:ext uri="{FF2B5EF4-FFF2-40B4-BE49-F238E27FC236}">
                <a16:creationId xmlns:a16="http://schemas.microsoft.com/office/drawing/2014/main" id="{726DF37E-4269-49F5-883B-0C06EFEE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5598" y="2752725"/>
            <a:ext cx="5898452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3B82F6">
              <a:alpha val="16000"/>
            </a:srgbClr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kpi-flow-num">
            <a:extLst xmlns:a="http://schemas.openxmlformats.org/drawingml/2006/main">
              <a:ext uri="{FF2B5EF4-FFF2-40B4-BE49-F238E27FC236}">
                <a16:creationId xmlns:a16="http://schemas.microsoft.com/office/drawing/2014/main" id="{2F398406-2DE8-4FDA-9C34-AAABED5C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2933700"/>
            <a:ext cx="857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3B82F6"/>
                </a:solidFill>
              </a:defRPr>
            </a:pPr>
            <a:r>
              <a:rPr sz="3600" b="1" i="0">
                <a:solidFill>
                  <a:srgbClr val="3B82F6"/>
                </a:solidFill>
              </a:rPr>
              <a:t>09</a:t>
            </a:r>
          </a:p>
        </p:txBody>
      </p:sp>
      <p:sp>
        <p:nvSpPr>
          <p:cNvPr id="16" name="kpi-flow-label">
            <a:extLst xmlns:a="http://schemas.openxmlformats.org/drawingml/2006/main">
              <a:ext uri="{FF2B5EF4-FFF2-40B4-BE49-F238E27FC236}">
                <a16:creationId xmlns:a16="http://schemas.microsoft.com/office/drawing/2014/main" id="{A1232D96-6E20-4488-9929-19793CED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2933700"/>
            <a:ext cx="4419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F1F5F9"/>
                </a:solidFill>
              </a:defRPr>
            </a:pPr>
            <a:r>
              <a:rPr sz="1575" b="0" i="0">
                <a:solidFill>
                  <a:srgbClr val="F1F5F9"/>
                </a:solidFill>
              </a:rPr>
              <a:t>API endpoints covering auth, repair CRUD, and tracking</a:t>
            </a:r>
          </a:p>
        </p:txBody>
      </p:sp>
      <p:sp>
        <p:nvSpPr>
          <p:cNvPr id="17" name="kpi-customer">
            <a:extLst xmlns:a="http://schemas.openxmlformats.org/drawingml/2006/main">
              <a:ext uri="{FF2B5EF4-FFF2-40B4-BE49-F238E27FC236}">
                <a16:creationId xmlns:a16="http://schemas.microsoft.com/office/drawing/2014/main" id="{61715A66-92E2-4507-8B0A-BDE663C7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5598" y="3724275"/>
            <a:ext cx="5898452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B981">
              <a:alpha val="16000"/>
            </a:srgbClr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8" name="kpi-code-num">
            <a:extLst xmlns:a="http://schemas.openxmlformats.org/drawingml/2006/main">
              <a:ext uri="{FF2B5EF4-FFF2-40B4-BE49-F238E27FC236}">
                <a16:creationId xmlns:a16="http://schemas.microsoft.com/office/drawing/2014/main" id="{59E505BC-BBFF-42F4-B02F-62D15F4A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3905250"/>
            <a:ext cx="857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0B981"/>
                </a:solidFill>
              </a:defRPr>
            </a:pPr>
            <a:r>
              <a:rPr sz="3600" b="1" i="0">
                <a:solidFill>
                  <a:srgbClr val="10B981"/>
                </a:solidFill>
              </a:rPr>
              <a:t>RM</a:t>
            </a:r>
          </a:p>
        </p:txBody>
      </p:sp>
      <p:sp>
        <p:nvSpPr>
          <p:cNvPr id="19" name="kpi-code-label">
            <a:extLst xmlns:a="http://schemas.openxmlformats.org/drawingml/2006/main">
              <a:ext uri="{FF2B5EF4-FFF2-40B4-BE49-F238E27FC236}">
                <a16:creationId xmlns:a16="http://schemas.microsoft.com/office/drawing/2014/main" id="{C8F74346-2547-4BBC-BFF9-C61F7618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3905250"/>
            <a:ext cx="4419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F1F5F9"/>
                </a:solidFill>
              </a:defRPr>
            </a:pPr>
            <a:r>
              <a:rPr sz="1575" b="0" i="0">
                <a:solidFill>
                  <a:srgbClr val="F1F5F9"/>
                </a:solidFill>
              </a:rPr>
              <a:t>Tracking code portal for customers with no login required</a:t>
            </a:r>
          </a:p>
        </p:txBody>
      </p:sp>
      <p:sp>
        <p:nvSpPr>
          <p:cNvPr id="20" name="cover-footer-left">
            <a:extLst xmlns:a="http://schemas.openxmlformats.org/drawingml/2006/main">
              <a:ext uri="{FF2B5EF4-FFF2-40B4-BE49-F238E27FC236}">
                <a16:creationId xmlns:a16="http://schemas.microsoft.com/office/drawing/2014/main" id="{CDBFF5FC-F4FC-45B6-A2C3-588E64CD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10700"/>
            <a:ext cx="14839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4748B"/>
                </a:solidFill>
              </a:defRPr>
            </a:pPr>
            <a:r>
              <a:rPr sz="1275" b="0" i="0">
                <a:solidFill>
                  <a:srgbClr val="64748B"/>
                </a:solidFill>
              </a:rPr>
              <a:t>Technical report and PowerPoint companion</a:t>
            </a:r>
          </a:p>
        </p:txBody>
      </p:sp>
      <p:sp>
        <p:nvSpPr>
          <p:cNvPr id="21" name="cover-date">
            <a:extLst xmlns:a="http://schemas.openxmlformats.org/drawingml/2006/main">
              <a:ext uri="{FF2B5EF4-FFF2-40B4-BE49-F238E27FC236}">
                <a16:creationId xmlns:a16="http://schemas.microsoft.com/office/drawing/2014/main" id="{840A83FB-09E2-4205-B865-D533CBD8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9410700"/>
            <a:ext cx="171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4748B"/>
                </a:solidFill>
              </a:defRPr>
            </a:pPr>
            <a:r>
              <a:rPr sz="1275" b="0" i="0">
                <a:solidFill>
                  <a:srgbClr val="64748B"/>
                </a:solidFill>
              </a:rPr>
              <a:t>April 30, 2026</a:t>
            </a:r>
          </a:p>
        </p:txBody>
      </p:sp>
    </p:spTree>
    <p:extLst>
      <p:ext uri="{BB962C8B-B14F-4D97-AF65-F5344CB8AC3E}">
        <p14:creationId xmlns:p14="http://schemas.microsoft.com/office/powerpoint/2010/main" val="117877831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A2AE2E26-25A5-4F19-874F-2EC4F84F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oundRect">
            <a:avLst>
              <a:gd name="adj" fmla="val 741"/>
            </a:avLst>
          </a:prstGeom>
          <a:solidFill xmlns:a="http://schemas.openxmlformats.org/drawingml/2006/main">
            <a:srgbClr val="080A0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6E077C-19AD-40C3-BBF6-A925C85A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6916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F1F5F9"/>
                </a:solidFill>
              </a:defRPr>
            </a:pPr>
            <a:r>
              <a:rPr sz="4050" b="1" i="0">
                <a:solidFill>
                  <a:srgbClr val="F1F5F9"/>
                </a:solidFill>
              </a:rPr>
              <a:t>What the website solves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5DB8C23-B010-4481-84B5-11E39306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6916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94A3B8"/>
                </a:solidFill>
              </a:defRPr>
            </a:pPr>
            <a:r>
              <a:rPr sz="1800" b="0" i="0">
                <a:solidFill>
                  <a:srgbClr val="94A3B8"/>
                </a:solidFill>
              </a:rPr>
              <a:t>Repair Manager turns a common garage workflow into one connected staff dashboard and customer tracking experience.</a:t>
            </a:r>
          </a:p>
        </p:txBody>
      </p:sp>
      <p:sp>
        <p:nvSpPr>
          <p:cNvPr id="4" name="big-claim">
            <a:extLst xmlns:a="http://schemas.openxmlformats.org/drawingml/2006/main">
              <a:ext uri="{FF2B5EF4-FFF2-40B4-BE49-F238E27FC236}">
                <a16:creationId xmlns:a16="http://schemas.microsoft.com/office/drawing/2014/main" id="{51BD040C-D5E2-4F98-9EB7-1C3DF381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60960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 i="0">
                <a:solidFill>
                  <a:srgbClr val="F1F5F9"/>
                </a:solidFill>
              </a:defRPr>
            </a:pPr>
            <a:r>
              <a:rPr sz="4200" b="1" i="0">
                <a:solidFill>
                  <a:srgbClr val="F1F5F9"/>
                </a:solidFill>
              </a:rPr>
              <a:t>The product is not just a CRUD demo; it models the daily repair lifecycle.</a:t>
            </a:r>
          </a:p>
        </p:txBody>
      </p:sp>
      <p:sp>
        <p:nvSpPr>
          <p:cNvPr id="5" name="claim-support">
            <a:extLst xmlns:a="http://schemas.openxmlformats.org/drawingml/2006/main">
              <a:ext uri="{FF2B5EF4-FFF2-40B4-BE49-F238E27FC236}">
                <a16:creationId xmlns:a16="http://schemas.microsoft.com/office/drawing/2014/main" id="{3D2A22EB-9A8D-41C2-8171-7F742081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6096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94A3B8"/>
                </a:solidFill>
              </a:defRPr>
            </a:pPr>
            <a:r>
              <a:rPr sz="1950" b="0" i="0">
                <a:solidFill>
                  <a:srgbClr val="94A3B8"/>
                </a:solidFill>
              </a:rPr>
              <a:t>Staff get protected operations. Customers get instant status visibility. The shop gets one source of truth for work, costs, and progress.</a:t>
            </a:r>
          </a:p>
        </p:txBody>
      </p:sp>
      <p:sp>
        <p:nvSpPr>
          <p:cNvPr id="6" name="need-staff">
            <a:extLst xmlns:a="http://schemas.openxmlformats.org/drawingml/2006/main">
              <a:ext uri="{FF2B5EF4-FFF2-40B4-BE49-F238E27FC236}">
                <a16:creationId xmlns:a16="http://schemas.microsoft.com/office/drawing/2014/main" id="{7F583382-7D67-4D76-BE15-6BB439DA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33550"/>
            <a:ext cx="104584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F1117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need-staff-accent">
            <a:extLst xmlns:a="http://schemas.openxmlformats.org/drawingml/2006/main">
              <a:ext uri="{FF2B5EF4-FFF2-40B4-BE49-F238E27FC236}">
                <a16:creationId xmlns:a16="http://schemas.microsoft.com/office/drawing/2014/main" id="{4DE21EBB-2631-418B-A8EE-DD195075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9240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8" name="need-staff-heading">
            <a:extLst xmlns:a="http://schemas.openxmlformats.org/drawingml/2006/main">
              <a:ext uri="{FF2B5EF4-FFF2-40B4-BE49-F238E27FC236}">
                <a16:creationId xmlns:a16="http://schemas.microsoft.com/office/drawing/2014/main" id="{72EABD8C-ACE3-4565-AA6F-431B3B60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57400"/>
            <a:ext cx="1000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1F5F9"/>
                </a:solidFill>
              </a:defRPr>
            </a:pPr>
            <a:r>
              <a:rPr sz="1950" b="1" i="0">
                <a:solidFill>
                  <a:srgbClr val="F1F5F9"/>
                </a:solidFill>
              </a:rPr>
              <a:t>Secure staff workspace</a:t>
            </a:r>
          </a:p>
        </p:txBody>
      </p:sp>
      <p:sp>
        <p:nvSpPr>
          <p:cNvPr id="9" name="need-staff-body">
            <a:extLst xmlns:a="http://schemas.openxmlformats.org/drawingml/2006/main">
              <a:ext uri="{FF2B5EF4-FFF2-40B4-BE49-F238E27FC236}">
                <a16:creationId xmlns:a16="http://schemas.microsoft.com/office/drawing/2014/main" id="{AB67182C-171F-4563-9A22-CEF3D4EC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00300"/>
            <a:ext cx="1000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94A3B8"/>
                </a:solidFill>
              </a:defRPr>
            </a:pPr>
            <a:r>
              <a:rPr sz="1425" b="0" i="0">
                <a:solidFill>
                  <a:srgbClr val="94A3B8"/>
                </a:solidFill>
              </a:rPr>
              <a:t>Signup, login, local session storage, and JWT bearer requests protect operational screens.</a:t>
            </a:r>
          </a:p>
        </p:txBody>
      </p:sp>
      <p:sp>
        <p:nvSpPr>
          <p:cNvPr id="10" name="need-jobs">
            <a:extLst xmlns:a="http://schemas.openxmlformats.org/drawingml/2006/main">
              <a:ext uri="{FF2B5EF4-FFF2-40B4-BE49-F238E27FC236}">
                <a16:creationId xmlns:a16="http://schemas.microsoft.com/office/drawing/2014/main" id="{9E1E9EC8-CA59-4505-BFD4-AAE9FB07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90900"/>
            <a:ext cx="104584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F1117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need-jobs-accent">
            <a:extLst xmlns:a="http://schemas.openxmlformats.org/drawingml/2006/main">
              <a:ext uri="{FF2B5EF4-FFF2-40B4-BE49-F238E27FC236}">
                <a16:creationId xmlns:a16="http://schemas.microsoft.com/office/drawing/2014/main" id="{F35500DD-4EC0-4F01-8962-9A38AC3B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8140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  <a:prstDash val="solid"/>
          </a:ln>
        </p:spPr>
      </p:sp>
      <p:sp>
        <p:nvSpPr>
          <p:cNvPr id="12" name="need-jobs-heading">
            <a:extLst xmlns:a="http://schemas.openxmlformats.org/drawingml/2006/main">
              <a:ext uri="{FF2B5EF4-FFF2-40B4-BE49-F238E27FC236}">
                <a16:creationId xmlns:a16="http://schemas.microsoft.com/office/drawing/2014/main" id="{9B2525E1-8D90-4507-8C80-EF8B1F85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714750"/>
            <a:ext cx="1000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1F5F9"/>
                </a:solidFill>
              </a:defRPr>
            </a:pPr>
            <a:r>
              <a:rPr sz="1950" b="1" i="0">
                <a:solidFill>
                  <a:srgbClr val="F1F5F9"/>
                </a:solidFill>
              </a:rPr>
              <a:t>Full repair lifecycle</a:t>
            </a:r>
          </a:p>
        </p:txBody>
      </p:sp>
      <p:sp>
        <p:nvSpPr>
          <p:cNvPr id="13" name="need-jobs-body">
            <a:extLst xmlns:a="http://schemas.openxmlformats.org/drawingml/2006/main">
              <a:ext uri="{FF2B5EF4-FFF2-40B4-BE49-F238E27FC236}">
                <a16:creationId xmlns:a16="http://schemas.microsoft.com/office/drawing/2014/main" id="{A417DEE9-F93B-4164-B157-27051732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57650"/>
            <a:ext cx="1000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94A3B8"/>
                </a:solidFill>
              </a:defRPr>
            </a:pPr>
            <a:r>
              <a:rPr sz="1425" b="0" i="0">
                <a:solidFill>
                  <a:srgbClr val="94A3B8"/>
                </a:solidFill>
              </a:rPr>
              <a:t>Create, search, edit, complete, and delete repair jobs from a dashboard interface.</a:t>
            </a:r>
          </a:p>
        </p:txBody>
      </p:sp>
      <p:sp>
        <p:nvSpPr>
          <p:cNvPr id="14" name="need-customer">
            <a:extLst xmlns:a="http://schemas.openxmlformats.org/drawingml/2006/main">
              <a:ext uri="{FF2B5EF4-FFF2-40B4-BE49-F238E27FC236}">
                <a16:creationId xmlns:a16="http://schemas.microsoft.com/office/drawing/2014/main" id="{3DAE6C29-B2C5-42E8-8895-B5C0A17B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048250"/>
            <a:ext cx="104584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F1117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need-customer-accent">
            <a:extLst xmlns:a="http://schemas.openxmlformats.org/drawingml/2006/main">
              <a:ext uri="{FF2B5EF4-FFF2-40B4-BE49-F238E27FC236}">
                <a16:creationId xmlns:a16="http://schemas.microsoft.com/office/drawing/2014/main" id="{6CB93D5B-621C-4CDA-A3F7-1CA133E4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2387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6" name="need-customer-heading">
            <a:extLst xmlns:a="http://schemas.openxmlformats.org/drawingml/2006/main">
              <a:ext uri="{FF2B5EF4-FFF2-40B4-BE49-F238E27FC236}">
                <a16:creationId xmlns:a16="http://schemas.microsoft.com/office/drawing/2014/main" id="{31C1DE1B-6B5D-4499-AB16-43078B47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372100"/>
            <a:ext cx="1000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1F5F9"/>
                </a:solidFill>
              </a:defRPr>
            </a:pPr>
            <a:r>
              <a:rPr sz="1950" b="1" i="0">
                <a:solidFill>
                  <a:srgbClr val="F1F5F9"/>
                </a:solidFill>
              </a:rPr>
              <a:t>Customer self-service</a:t>
            </a:r>
          </a:p>
        </p:txBody>
      </p:sp>
      <p:sp>
        <p:nvSpPr>
          <p:cNvPr id="17" name="need-customer-body">
            <a:extLst xmlns:a="http://schemas.openxmlformats.org/drawingml/2006/main">
              <a:ext uri="{FF2B5EF4-FFF2-40B4-BE49-F238E27FC236}">
                <a16:creationId xmlns:a16="http://schemas.microsoft.com/office/drawing/2014/main" id="{8194B3A1-619B-44C6-B184-C37C442E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715000"/>
            <a:ext cx="1000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94A3B8"/>
                </a:solidFill>
              </a:defRPr>
            </a:pPr>
            <a:r>
              <a:rPr sz="1425" b="0" i="0">
                <a:solidFill>
                  <a:srgbClr val="94A3B8"/>
                </a:solidFill>
              </a:rPr>
              <a:t>A public portal lets customers check status with a tracking code, no account required.</a:t>
            </a:r>
          </a:p>
        </p:txBody>
      </p:sp>
      <p:sp>
        <p:nvSpPr>
          <p:cNvPr id="18" name="need-cost">
            <a:extLst xmlns:a="http://schemas.openxmlformats.org/drawingml/2006/main">
              <a:ext uri="{FF2B5EF4-FFF2-40B4-BE49-F238E27FC236}">
                <a16:creationId xmlns:a16="http://schemas.microsoft.com/office/drawing/2014/main" id="{FC5C1D9F-D63A-47D6-95D3-99D42794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705600"/>
            <a:ext cx="104584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F1117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need-cost-accent">
            <a:extLst xmlns:a="http://schemas.openxmlformats.org/drawingml/2006/main">
              <a:ext uri="{FF2B5EF4-FFF2-40B4-BE49-F238E27FC236}">
                <a16:creationId xmlns:a16="http://schemas.microsoft.com/office/drawing/2014/main" id="{02656DD2-F5AA-467B-946E-BA3C3C76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689610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  <a:prstDash val="solid"/>
          </a:ln>
        </p:spPr>
      </p:sp>
      <p:sp>
        <p:nvSpPr>
          <p:cNvPr id="20" name="need-cost-heading">
            <a:extLst xmlns:a="http://schemas.openxmlformats.org/drawingml/2006/main">
              <a:ext uri="{FF2B5EF4-FFF2-40B4-BE49-F238E27FC236}">
                <a16:creationId xmlns:a16="http://schemas.microsoft.com/office/drawing/2014/main" id="{ACDF7F8F-AC62-491C-B590-69B49E41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7029450"/>
            <a:ext cx="1000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1F5F9"/>
                </a:solidFill>
              </a:defRPr>
            </a:pPr>
            <a:r>
              <a:rPr sz="1950" b="1" i="0">
                <a:solidFill>
                  <a:srgbClr val="F1F5F9"/>
                </a:solidFill>
              </a:rPr>
              <a:t>Cost and workload visibility</a:t>
            </a:r>
          </a:p>
        </p:txBody>
      </p:sp>
      <p:sp>
        <p:nvSpPr>
          <p:cNvPr id="21" name="need-cost-body">
            <a:extLst xmlns:a="http://schemas.openxmlformats.org/drawingml/2006/main">
              <a:ext uri="{FF2B5EF4-FFF2-40B4-BE49-F238E27FC236}">
                <a16:creationId xmlns:a16="http://schemas.microsoft.com/office/drawing/2014/main" id="{BE123EF4-8D16-4D06-B04F-258C2AAB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7372350"/>
            <a:ext cx="1000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94A3B8"/>
                </a:solidFill>
              </a:defRPr>
            </a:pPr>
            <a:r>
              <a:rPr sz="1425" b="0" i="0">
                <a:solidFill>
                  <a:srgbClr val="94A3B8"/>
                </a:solidFill>
              </a:rPr>
              <a:t>Dashboard totals summarize jobs, status mix, estimated revenue, actual revenue, and average cost.</a:t>
            </a:r>
          </a:p>
        </p:txBody>
      </p:sp>
      <p:sp>
        <p:nvSpPr>
          <p:cNvPr id="2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899D74B-8110-4E1A-BF11-C0AE19FE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0"/>
            <a:ext cx="160210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rPr sz="1050" b="0" i="0">
                <a:solidFill>
                  <a:srgbClr val="64748B"/>
                </a:solidFill>
              </a:rPr>
              <a:t>Repair Manager website report</a:t>
            </a:r>
          </a:p>
        </p:txBody>
      </p:sp>
      <p:sp>
        <p:nvSpPr>
          <p:cNvPr id="2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F0DCB26-D64B-467D-B3BE-10D08937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601200"/>
            <a:ext cx="6667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rPr sz="1050" b="0" i="0">
                <a:solidFill>
                  <a:srgbClr val="64748B"/>
                </a:solidFill>
              </a:rPr>
              <a:t>2/10</a:t>
            </a:r>
          </a:p>
        </p:txBody>
      </p:sp>
    </p:spTree>
    <p:extLst>
      <p:ext uri="{BB962C8B-B14F-4D97-AF65-F5344CB8AC3E}">
        <p14:creationId xmlns:p14="http://schemas.microsoft.com/office/powerpoint/2010/main" val="94364193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C41289AC-A449-4F3B-9CF8-DAE4C781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oundRect">
            <a:avLst>
              <a:gd name="adj" fmla="val 741"/>
            </a:avLst>
          </a:prstGeom>
          <a:solidFill xmlns:a="http://schemas.openxmlformats.org/drawingml/2006/main">
            <a:srgbClr val="080A0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3399A0-9DCB-4C5F-8839-5BDD2DE5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6916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F1F5F9"/>
                </a:solidFill>
              </a:defRPr>
            </a:pPr>
            <a:r>
              <a:rPr sz="4050" b="1" i="0">
                <a:solidFill>
                  <a:srgbClr val="F1F5F9"/>
                </a:solidFill>
              </a:rPr>
              <a:t>System architecture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50EAAAB-9FB8-4DFE-A0D7-B5B073C1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6916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94A3B8"/>
                </a:solidFill>
              </a:defRPr>
            </a:pPr>
            <a:r>
              <a:rPr sz="1800" b="0" i="0">
                <a:solidFill>
                  <a:srgbClr val="94A3B8"/>
                </a:solidFill>
              </a:rPr>
              <a:t>The project follows a clear MERN separation: React renders the experience, Express owns the API, and MongoDB persists users and repair jobs.</a:t>
            </a:r>
          </a:p>
        </p:txBody>
      </p:sp>
      <p:sp>
        <p:nvSpPr>
          <p:cNvPr id="4" name="arch-react">
            <a:extLst xmlns:a="http://schemas.openxmlformats.org/drawingml/2006/main">
              <a:ext uri="{FF2B5EF4-FFF2-40B4-BE49-F238E27FC236}">
                <a16:creationId xmlns:a16="http://schemas.microsoft.com/office/drawing/2014/main" id="{F850CCF7-FFAF-4366-94AC-68B6755B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095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0F1117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arch-react-rule">
            <a:extLst xmlns:a="http://schemas.openxmlformats.org/drawingml/2006/main">
              <a:ext uri="{FF2B5EF4-FFF2-40B4-BE49-F238E27FC236}">
                <a16:creationId xmlns:a16="http://schemas.microsoft.com/office/drawing/2014/main" id="{7DB0AFD3-4094-40B0-BC2C-63298201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6" name="arch-react-heading">
            <a:extLst xmlns:a="http://schemas.openxmlformats.org/drawingml/2006/main">
              <a:ext uri="{FF2B5EF4-FFF2-40B4-BE49-F238E27FC236}">
                <a16:creationId xmlns:a16="http://schemas.microsoft.com/office/drawing/2014/main" id="{569DE0E3-614B-420D-8900-8C6E0825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3562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925" b="1" i="0">
                <a:solidFill>
                  <a:srgbClr val="F1F5F9"/>
                </a:solidFill>
              </a:defRPr>
            </a:pPr>
            <a:r>
              <a:rPr sz="2925" b="1" i="0">
                <a:solidFill>
                  <a:srgbClr val="F1F5F9"/>
                </a:solidFill>
              </a:rPr>
              <a:t>React frontend</a:t>
            </a:r>
          </a:p>
        </p:txBody>
      </p:sp>
      <p:sp>
        <p:nvSpPr>
          <p:cNvPr id="7" name="arch-react-body">
            <a:extLst xmlns:a="http://schemas.openxmlformats.org/drawingml/2006/main">
              <a:ext uri="{FF2B5EF4-FFF2-40B4-BE49-F238E27FC236}">
                <a16:creationId xmlns:a16="http://schemas.microsoft.com/office/drawing/2014/main" id="{4FAF9DC9-649F-4F6D-9E97-6EB1047F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35623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94A3B8"/>
                </a:solidFill>
              </a:defRPr>
            </a:pPr>
            <a:r>
              <a:rPr sz="1575" b="0" i="0">
                <a:solidFill>
                  <a:srgbClr val="94A3B8"/>
                </a:solidFill>
              </a:rPr>
              <a:t>App.jsx controls authentication state, dashboard tabs, repair data, filters, and customer tracking mode.</a:t>
            </a:r>
          </a:p>
        </p:txBody>
      </p:sp>
      <p:sp>
        <p:nvSpPr>
          <p:cNvPr id="8" name="connector-one">
            <a:extLst xmlns:a="http://schemas.openxmlformats.org/drawingml/2006/main">
              <a:ext uri="{FF2B5EF4-FFF2-40B4-BE49-F238E27FC236}">
                <a16:creationId xmlns:a16="http://schemas.microsoft.com/office/drawing/2014/main" id="{EAE1DF81-C2DA-4C30-85D3-DA6E55CA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33550"/>
            <a:ext cx="1714500" cy="2952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>
              <a:alpha val="2000"/>
            </a:srgbClr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8CD6F3-D924-4E0F-8EB5-78132F65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38450"/>
            <a:ext cx="1409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10" name="connector-one-label">
            <a:extLst xmlns:a="http://schemas.openxmlformats.org/drawingml/2006/main">
              <a:ext uri="{FF2B5EF4-FFF2-40B4-BE49-F238E27FC236}">
                <a16:creationId xmlns:a16="http://schemas.microsoft.com/office/drawing/2014/main" id="{39794A83-9177-41AF-B68F-4C50BB66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71800"/>
            <a:ext cx="1409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94A3B8"/>
                </a:solidFill>
              </a:defRPr>
            </a:pPr>
            <a:r>
              <a:rPr sz="1350" b="0" i="0">
                <a:solidFill>
                  <a:srgbClr val="94A3B8"/>
                </a:solidFill>
              </a:rPr>
              <a:t>Axios HTTP</a:t>
            </a:r>
          </a:p>
        </p:txBody>
      </p:sp>
      <p:sp>
        <p:nvSpPr>
          <p:cNvPr id="11" name="arch-api">
            <a:extLst xmlns:a="http://schemas.openxmlformats.org/drawingml/2006/main">
              <a:ext uri="{FF2B5EF4-FFF2-40B4-BE49-F238E27FC236}">
                <a16:creationId xmlns:a16="http://schemas.microsoft.com/office/drawing/2014/main" id="{C59F3AD0-3B22-4AA3-B197-6141FE30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33550"/>
            <a:ext cx="4095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0F1117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arch-api-rule">
            <a:extLst xmlns:a="http://schemas.openxmlformats.org/drawingml/2006/main">
              <a:ext uri="{FF2B5EF4-FFF2-40B4-BE49-F238E27FC236}">
                <a16:creationId xmlns:a16="http://schemas.microsoft.com/office/drawing/2014/main" id="{496C80FB-8948-406D-B5E3-E219EDB3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812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  <a:prstDash val="solid"/>
          </a:ln>
        </p:spPr>
      </p:sp>
      <p:sp>
        <p:nvSpPr>
          <p:cNvPr id="13" name="arch-api-heading">
            <a:extLst xmlns:a="http://schemas.openxmlformats.org/drawingml/2006/main">
              <a:ext uri="{FF2B5EF4-FFF2-40B4-BE49-F238E27FC236}">
                <a16:creationId xmlns:a16="http://schemas.microsoft.com/office/drawing/2014/main" id="{49008039-F634-4DF3-8A44-B82A936F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71700"/>
            <a:ext cx="3562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925" b="1" i="0">
                <a:solidFill>
                  <a:srgbClr val="F1F5F9"/>
                </a:solidFill>
              </a:defRPr>
            </a:pPr>
            <a:r>
              <a:rPr sz="2925" b="1" i="0">
                <a:solidFill>
                  <a:srgbClr val="F1F5F9"/>
                </a:solidFill>
              </a:rPr>
              <a:t>Express API</a:t>
            </a:r>
          </a:p>
        </p:txBody>
      </p:sp>
      <p:sp>
        <p:nvSpPr>
          <p:cNvPr id="14" name="arch-api-body">
            <a:extLst xmlns:a="http://schemas.openxmlformats.org/drawingml/2006/main">
              <a:ext uri="{FF2B5EF4-FFF2-40B4-BE49-F238E27FC236}">
                <a16:creationId xmlns:a16="http://schemas.microsoft.com/office/drawing/2014/main" id="{5431F9E6-964C-4565-A938-5014A2A4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67000"/>
            <a:ext cx="3562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94A3B8"/>
                </a:solidFill>
              </a:defRPr>
            </a:pPr>
            <a:r>
              <a:rPr sz="1575" b="0" i="0">
                <a:solidFill>
                  <a:srgbClr val="94A3B8"/>
                </a:solidFill>
              </a:rPr>
              <a:t>Routes handle auth, protected repair CRUD, public tracking, CORS, and health checks.</a:t>
            </a:r>
          </a:p>
        </p:txBody>
      </p:sp>
      <p:sp>
        <p:nvSpPr>
          <p:cNvPr id="15" name="connector-two">
            <a:extLst xmlns:a="http://schemas.openxmlformats.org/drawingml/2006/main">
              <a:ext uri="{FF2B5EF4-FFF2-40B4-BE49-F238E27FC236}">
                <a16:creationId xmlns:a16="http://schemas.microsoft.com/office/drawing/2014/main" id="{AF3E27DE-D853-47C2-ACA8-E4836FA5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1733550"/>
            <a:ext cx="1714500" cy="2952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>
              <a:alpha val="2000"/>
            </a:srgbClr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9FE9F1-D5CD-40D6-A0E5-AD1713C3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838450"/>
            <a:ext cx="1409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17" name="connector-two-label">
            <a:extLst xmlns:a="http://schemas.openxmlformats.org/drawingml/2006/main">
              <a:ext uri="{FF2B5EF4-FFF2-40B4-BE49-F238E27FC236}">
                <a16:creationId xmlns:a16="http://schemas.microsoft.com/office/drawing/2014/main" id="{CC34EBA7-58F8-4EEE-B000-2D5A8302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971800"/>
            <a:ext cx="1409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94A3B8"/>
                </a:solidFill>
              </a:defRPr>
            </a:pPr>
            <a:r>
              <a:rPr sz="1350" b="0" i="0">
                <a:solidFill>
                  <a:srgbClr val="94A3B8"/>
                </a:solidFill>
              </a:rPr>
              <a:t>Mongoose</a:t>
            </a:r>
          </a:p>
        </p:txBody>
      </p:sp>
      <p:sp>
        <p:nvSpPr>
          <p:cNvPr id="18" name="arch-db">
            <a:extLst xmlns:a="http://schemas.openxmlformats.org/drawingml/2006/main">
              <a:ext uri="{FF2B5EF4-FFF2-40B4-BE49-F238E27FC236}">
                <a16:creationId xmlns:a16="http://schemas.microsoft.com/office/drawing/2014/main" id="{5F1BDBE5-FAAF-4CD1-B75A-B0CC6B76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1733550"/>
            <a:ext cx="4095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0F1117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arch-db-rule">
            <a:extLst xmlns:a="http://schemas.openxmlformats.org/drawingml/2006/main">
              <a:ext uri="{FF2B5EF4-FFF2-40B4-BE49-F238E27FC236}">
                <a16:creationId xmlns:a16="http://schemas.microsoft.com/office/drawing/2014/main" id="{5B99C79A-E788-40E7-AD5E-98F6C6E7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19812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20" name="arch-db-heading">
            <a:extLst xmlns:a="http://schemas.openxmlformats.org/drawingml/2006/main">
              <a:ext uri="{FF2B5EF4-FFF2-40B4-BE49-F238E27FC236}">
                <a16:creationId xmlns:a16="http://schemas.microsoft.com/office/drawing/2014/main" id="{F00B2CF9-641B-46D3-9B2B-52F3600F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171700"/>
            <a:ext cx="3562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925" b="1" i="0">
                <a:solidFill>
                  <a:srgbClr val="F1F5F9"/>
                </a:solidFill>
              </a:defRPr>
            </a:pPr>
            <a:r>
              <a:rPr sz="2925" b="1" i="0">
                <a:solidFill>
                  <a:srgbClr val="F1F5F9"/>
                </a:solidFill>
              </a:rPr>
              <a:t>MongoDB</a:t>
            </a:r>
          </a:p>
        </p:txBody>
      </p:sp>
      <p:sp>
        <p:nvSpPr>
          <p:cNvPr id="21" name="arch-db-body">
            <a:extLst xmlns:a="http://schemas.openxmlformats.org/drawingml/2006/main">
              <a:ext uri="{FF2B5EF4-FFF2-40B4-BE49-F238E27FC236}">
                <a16:creationId xmlns:a16="http://schemas.microsoft.com/office/drawing/2014/main" id="{27F6236B-0137-4C43-A9C5-40CA3A74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667000"/>
            <a:ext cx="35623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94A3B8"/>
                </a:solidFill>
              </a:defRPr>
            </a:pPr>
            <a:r>
              <a:rPr sz="1575" b="0" i="0">
                <a:solidFill>
                  <a:srgbClr val="94A3B8"/>
                </a:solidFill>
              </a:rPr>
              <a:t>User and RepairJob schemas store accounts, ownership, tracking codes, costs, statuses, and timestamps.</a:t>
            </a:r>
          </a:p>
        </p:txBody>
      </p:sp>
      <p:sp>
        <p:nvSpPr>
          <p:cNvPr id="22" name="note-public">
            <a:extLst xmlns:a="http://schemas.openxmlformats.org/drawingml/2006/main">
              <a:ext uri="{FF2B5EF4-FFF2-40B4-BE49-F238E27FC236}">
                <a16:creationId xmlns:a16="http://schemas.microsoft.com/office/drawing/2014/main" id="{A15C3E24-FC82-4C53-B14F-CD19E0D5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83724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B981">
              <a:alpha val="16000"/>
            </a:srgbClr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public-note">
            <a:extLst xmlns:a="http://schemas.openxmlformats.org/drawingml/2006/main">
              <a:ext uri="{FF2B5EF4-FFF2-40B4-BE49-F238E27FC236}">
                <a16:creationId xmlns:a16="http://schemas.microsoft.com/office/drawing/2014/main" id="{DBDB28F7-A803-429C-A203-F027E5C2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7924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F1F5F9"/>
                </a:solidFill>
              </a:defRPr>
            </a:pPr>
            <a:r>
              <a:rPr sz="1650" b="0" i="0">
                <a:solidFill>
                  <a:srgbClr val="F1F5F9"/>
                </a:solidFill>
              </a:rPr>
              <a:t>Public path: /api/repairs/track/:trackingCode returns limited customer-facing repair information.</a:t>
            </a:r>
          </a:p>
        </p:txBody>
      </p:sp>
      <p:sp>
        <p:nvSpPr>
          <p:cNvPr id="24" name="note-private">
            <a:extLst xmlns:a="http://schemas.openxmlformats.org/drawingml/2006/main">
              <a:ext uri="{FF2B5EF4-FFF2-40B4-BE49-F238E27FC236}">
                <a16:creationId xmlns:a16="http://schemas.microsoft.com/office/drawing/2014/main" id="{BEAE66BE-41E9-474E-8B9A-5D072A92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010150"/>
            <a:ext cx="83724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9E0B">
              <a:alpha val="16000"/>
            </a:srgbClr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private-note">
            <a:extLst xmlns:a="http://schemas.openxmlformats.org/drawingml/2006/main">
              <a:ext uri="{FF2B5EF4-FFF2-40B4-BE49-F238E27FC236}">
                <a16:creationId xmlns:a16="http://schemas.microsoft.com/office/drawing/2014/main" id="{364C7A37-809C-4AD0-960F-C0F72507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219700"/>
            <a:ext cx="7924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F1F5F9"/>
                </a:solidFill>
              </a:defRPr>
            </a:pPr>
            <a:r>
              <a:rPr sz="1650" b="0" i="0">
                <a:solidFill>
                  <a:srgbClr val="F1F5F9"/>
                </a:solidFill>
              </a:rPr>
              <a:t>Private path: all staff repair routes use the protect middleware and user-scoped database queries.</a:t>
            </a:r>
          </a:p>
        </p:txBody>
      </p:sp>
      <p:sp>
        <p:nvSpPr>
          <p:cNvPr id="2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C78BE4D-33C7-4E31-9B12-FA2086EA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0"/>
            <a:ext cx="160210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rPr sz="1050" b="0" i="0">
                <a:solidFill>
                  <a:srgbClr val="64748B"/>
                </a:solidFill>
              </a:rPr>
              <a:t>Repair Manager website report</a:t>
            </a:r>
          </a:p>
        </p:txBody>
      </p:sp>
      <p:sp>
        <p:nvSpPr>
          <p:cNvPr id="2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52875AC-48F8-4D42-9153-3B90021E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601200"/>
            <a:ext cx="6667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rPr sz="1050" b="0" i="0">
                <a:solidFill>
                  <a:srgbClr val="64748B"/>
                </a:solidFill>
              </a:rPr>
              <a:t>3/10</a:t>
            </a:r>
          </a:p>
        </p:txBody>
      </p:sp>
    </p:spTree>
    <p:extLst>
      <p:ext uri="{BB962C8B-B14F-4D97-AF65-F5344CB8AC3E}">
        <p14:creationId xmlns:p14="http://schemas.microsoft.com/office/powerpoint/2010/main" val="17209672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9B27B2C5-EF55-44AD-AB4A-841A8DF6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oundRect">
            <a:avLst>
              <a:gd name="adj" fmla="val 741"/>
            </a:avLst>
          </a:prstGeom>
          <a:solidFill xmlns:a="http://schemas.openxmlformats.org/drawingml/2006/main">
            <a:srgbClr val="080A0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02F964-9A4B-4D74-9F98-C4CA7AFB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6916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F1F5F9"/>
                </a:solidFill>
              </a:defRPr>
            </a:pPr>
            <a:r>
              <a:rPr sz="4050" b="1" i="0">
                <a:solidFill>
                  <a:srgbClr val="F1F5F9"/>
                </a:solidFill>
              </a:rPr>
              <a:t>Frontend experience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56525B1-1F70-4749-AEB0-AF3006BB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6916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94A3B8"/>
                </a:solidFill>
              </a:defRPr>
            </a:pPr>
            <a:r>
              <a:rPr sz="1800" b="0" i="0">
                <a:solidFill>
                  <a:srgbClr val="94A3B8"/>
                </a:solidFill>
              </a:rPr>
              <a:t>The React UI is organized around authenticated staff operations, compact dashboard scanning, and a separate customer tracking path.</a:t>
            </a:r>
          </a:p>
        </p:txBody>
      </p:sp>
      <p:sp>
        <p:nvSpPr>
          <p:cNvPr id="4" name="ui-mock">
            <a:extLst xmlns:a="http://schemas.openxmlformats.org/drawingml/2006/main">
              <a:ext uri="{FF2B5EF4-FFF2-40B4-BE49-F238E27FC236}">
                <a16:creationId xmlns:a16="http://schemas.microsoft.com/office/drawing/2014/main" id="{4BB9E2DD-D179-4247-B476-49FA9415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9525000" cy="7543800"/>
          </a:xfrm>
          <a:prstGeom xmlns:a="http://schemas.openxmlformats.org/drawingml/2006/main" prst="roundRect">
            <a:avLst>
              <a:gd name="adj" fmla="val 1010"/>
            </a:avLst>
          </a:prstGeom>
          <a:solidFill xmlns:a="http://schemas.openxmlformats.org/drawingml/2006/main">
            <a:srgbClr val="0F1117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mock-sidebar">
            <a:extLst xmlns:a="http://schemas.openxmlformats.org/drawingml/2006/main">
              <a:ext uri="{FF2B5EF4-FFF2-40B4-BE49-F238E27FC236}">
                <a16:creationId xmlns:a16="http://schemas.microsoft.com/office/drawing/2014/main" id="{CC89169D-8A75-493B-B1BF-A85066F7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2095500" cy="71628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B0D12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609094-E29B-4FD0-A600-DD386E7D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76450"/>
            <a:ext cx="1828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1F5F9"/>
                </a:solidFill>
              </a:defRPr>
            </a:pPr>
            <a:r>
              <a:rPr sz="2100" b="1" i="0">
                <a:solidFill>
                  <a:srgbClr val="F1F5F9"/>
                </a:solidFill>
              </a:rPr>
              <a:t>RepairMGR</a:t>
            </a:r>
          </a:p>
        </p:txBody>
      </p:sp>
      <p:sp>
        <p:nvSpPr>
          <p:cNvPr id="7" name="nav-dashboard">
            <a:extLst xmlns:a="http://schemas.openxmlformats.org/drawingml/2006/main">
              <a:ext uri="{FF2B5EF4-FFF2-40B4-BE49-F238E27FC236}">
                <a16:creationId xmlns:a16="http://schemas.microsoft.com/office/drawing/2014/main" id="{9989BF68-5A2B-468A-AFC7-84145676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76500"/>
            <a:ext cx="18288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59E0B">
              <a:alpha val="16000"/>
            </a:srgbClr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66521C-AAC8-4C21-8C14-42392143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156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59E0B"/>
                </a:solidFill>
              </a:defRPr>
            </a:pPr>
            <a:r>
              <a:rPr sz="1275" b="1" i="0">
                <a:solidFill>
                  <a:srgbClr val="F59E0B"/>
                </a:solidFill>
              </a:rPr>
              <a:t>Dashboard</a:t>
            </a:r>
          </a:p>
        </p:txBody>
      </p:sp>
      <p:sp>
        <p:nvSpPr>
          <p:cNvPr id="9" name="nav-all-repairs">
            <a:extLst xmlns:a="http://schemas.openxmlformats.org/drawingml/2006/main">
              <a:ext uri="{FF2B5EF4-FFF2-40B4-BE49-F238E27FC236}">
                <a16:creationId xmlns:a16="http://schemas.microsoft.com/office/drawing/2014/main" id="{3E10B7C8-F515-416A-B056-FA475BE0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28950"/>
            <a:ext cx="18288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>
              <a:alpha val="3000"/>
            </a:srgbClr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DF298A-D596-4DA2-BFC6-22C11700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156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94A3B8"/>
                </a:solidFill>
              </a:defRPr>
            </a:pPr>
            <a:r>
              <a:rPr sz="1275" b="0" i="0">
                <a:solidFill>
                  <a:srgbClr val="94A3B8"/>
                </a:solidFill>
              </a:rPr>
              <a:t>All Repairs</a:t>
            </a:r>
          </a:p>
        </p:txBody>
      </p:sp>
      <p:sp>
        <p:nvSpPr>
          <p:cNvPr id="11" name="nav-new-repair">
            <a:extLst xmlns:a="http://schemas.openxmlformats.org/drawingml/2006/main">
              <a:ext uri="{FF2B5EF4-FFF2-40B4-BE49-F238E27FC236}">
                <a16:creationId xmlns:a16="http://schemas.microsoft.com/office/drawing/2014/main" id="{1F68B641-37FD-4FEC-BD66-14F86934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18288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>
              <a:alpha val="3000"/>
            </a:srgbClr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0A5A1B-05B3-44C9-BEDE-346F3AA5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76650"/>
            <a:ext cx="156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94A3B8"/>
                </a:solidFill>
              </a:defRPr>
            </a:pPr>
            <a:r>
              <a:rPr sz="1275" b="0" i="0">
                <a:solidFill>
                  <a:srgbClr val="94A3B8"/>
                </a:solidFill>
              </a:rPr>
              <a:t>New Repair</a:t>
            </a:r>
          </a:p>
        </p:txBody>
      </p:sp>
      <p:sp>
        <p:nvSpPr>
          <p:cNvPr id="13" name="nav-completed">
            <a:extLst xmlns:a="http://schemas.openxmlformats.org/drawingml/2006/main">
              <a:ext uri="{FF2B5EF4-FFF2-40B4-BE49-F238E27FC236}">
                <a16:creationId xmlns:a16="http://schemas.microsoft.com/office/drawing/2014/main" id="{1DFD60F5-B5DD-4C8F-B770-374632E0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18288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>
              <a:alpha val="3000"/>
            </a:srgbClr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5EA176-2F93-4553-8CF8-7657D4F8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29100"/>
            <a:ext cx="156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94A3B8"/>
                </a:solidFill>
              </a:defRPr>
            </a:pPr>
            <a:r>
              <a:rPr sz="1275" b="0" i="0">
                <a:solidFill>
                  <a:srgbClr val="94A3B8"/>
                </a:solidFill>
              </a:rPr>
              <a:t>Completed</a:t>
            </a:r>
          </a:p>
        </p:txBody>
      </p:sp>
      <p:sp>
        <p:nvSpPr>
          <p:cNvPr id="15" name="nav-about">
            <a:extLst xmlns:a="http://schemas.openxmlformats.org/drawingml/2006/main">
              <a:ext uri="{FF2B5EF4-FFF2-40B4-BE49-F238E27FC236}">
                <a16:creationId xmlns:a16="http://schemas.microsoft.com/office/drawing/2014/main" id="{90290C4C-0E95-4D57-A227-80D10907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18288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>
              <a:alpha val="3000"/>
            </a:srgbClr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3640EB-C288-45BD-9E80-4DACB9B4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81550"/>
            <a:ext cx="156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94A3B8"/>
                </a:solidFill>
              </a:defRPr>
            </a:pPr>
            <a:r>
              <a:rPr sz="1275" b="0" i="0">
                <a:solidFill>
                  <a:srgbClr val="94A3B8"/>
                </a:solidFill>
              </a:rPr>
              <a:t>About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1BB012-1090-4187-8D58-B9FAB983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24050"/>
            <a:ext cx="5429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94A3B8"/>
                </a:solidFill>
              </a:defRPr>
            </a:pPr>
            <a:r>
              <a:rPr sz="1425" b="0" i="0">
                <a:solidFill>
                  <a:srgbClr val="94A3B8"/>
                </a:solidFill>
              </a:rPr>
              <a:t>Garage / Dashboard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F04E94-536A-4D2D-968A-9CBB7DBE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24050"/>
            <a:ext cx="1333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C47A66-5C85-45C2-9FBF-65DC904A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19300"/>
            <a:ext cx="1028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New Repair</a:t>
            </a:r>
          </a:p>
        </p:txBody>
      </p:sp>
      <p:sp>
        <p:nvSpPr>
          <p:cNvPr id="20" name="mock-hero">
            <a:extLst xmlns:a="http://schemas.openxmlformats.org/drawingml/2006/main">
              <a:ext uri="{FF2B5EF4-FFF2-40B4-BE49-F238E27FC236}">
                <a16:creationId xmlns:a16="http://schemas.microsoft.com/office/drawing/2014/main" id="{4CE8985F-93E1-4A04-9A87-BE086009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09850"/>
            <a:ext cx="68770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6192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DCD419-C409-42B3-A6B3-040AFA2C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00350"/>
            <a:ext cx="6419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59E0B"/>
                </a:solidFill>
              </a:defRPr>
            </a:pPr>
            <a:r>
              <a:rPr sz="1125" b="1" i="0">
                <a:solidFill>
                  <a:srgbClr val="F59E0B"/>
                </a:solidFill>
              </a:rPr>
              <a:t>Auto Garage Management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E09A6B-7A48-47D5-B160-63099657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09900"/>
            <a:ext cx="6419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F1F5F9"/>
                </a:solidFill>
              </a:defRPr>
            </a:pPr>
            <a:r>
              <a:rPr sz="3150" b="1" i="0">
                <a:solidFill>
                  <a:srgbClr val="F1F5F9"/>
                </a:solidFill>
              </a:rPr>
              <a:t>Welcome back, Admin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8774CE-F5E9-450B-A7BB-42D55B73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67100"/>
            <a:ext cx="6419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94A3B8"/>
                </a:solidFill>
              </a:defRPr>
            </a:pPr>
            <a:r>
              <a:rPr sz="1425" b="0" i="0">
                <a:solidFill>
                  <a:srgbClr val="94A3B8"/>
                </a:solidFill>
              </a:rPr>
              <a:t>Snapshot of garage operations today.</a:t>
            </a:r>
          </a:p>
        </p:txBody>
      </p:sp>
      <p:sp>
        <p:nvSpPr>
          <p:cNvPr id="24" name="mock-kpi-total-jobs">
            <a:extLst xmlns:a="http://schemas.openxmlformats.org/drawingml/2006/main">
              <a:ext uri="{FF2B5EF4-FFF2-40B4-BE49-F238E27FC236}">
                <a16:creationId xmlns:a16="http://schemas.microsoft.com/office/drawing/2014/main" id="{2C3C76E3-EEDD-4733-9218-E0ED2D68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33850"/>
            <a:ext cx="22161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6192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4F2100-0A5F-4E1E-8D65-7E8AFD79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267200"/>
            <a:ext cx="19050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4748B"/>
                </a:solidFill>
              </a:defRPr>
            </a:pPr>
            <a:r>
              <a:rPr sz="1050" b="1" i="0">
                <a:solidFill>
                  <a:srgbClr val="64748B"/>
                </a:solidFill>
              </a:rPr>
              <a:t>Total Jobs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149C28-CA49-48A7-9677-F9F4E443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438650"/>
            <a:ext cx="1905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59E0B"/>
                </a:solidFill>
              </a:defRPr>
            </a:pPr>
            <a:r>
              <a:rPr sz="2700" b="1" i="0">
                <a:solidFill>
                  <a:srgbClr val="F59E0B"/>
                </a:solidFill>
              </a:rPr>
              <a:t>24</a:t>
            </a:r>
          </a:p>
        </p:txBody>
      </p:sp>
      <p:sp>
        <p:nvSpPr>
          <p:cNvPr id="27" name="mock-kpi-pending">
            <a:extLst xmlns:a="http://schemas.openxmlformats.org/drawingml/2006/main">
              <a:ext uri="{FF2B5EF4-FFF2-40B4-BE49-F238E27FC236}">
                <a16:creationId xmlns:a16="http://schemas.microsoft.com/office/drawing/2014/main" id="{2A618E0E-1B94-46CA-B5A4-223677FD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700" y="4133850"/>
            <a:ext cx="22161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6192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C2F909-C752-4FF6-8DBB-0B5DE914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67200"/>
            <a:ext cx="19050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4748B"/>
                </a:solidFill>
              </a:defRPr>
            </a:pPr>
            <a:r>
              <a:rPr sz="1050" b="1" i="0">
                <a:solidFill>
                  <a:srgbClr val="64748B"/>
                </a:solidFill>
              </a:rPr>
              <a:t>Pending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21B3D8-16E2-44A7-B892-3400470C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38650"/>
            <a:ext cx="1905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EAB308"/>
                </a:solidFill>
              </a:defRPr>
            </a:pPr>
            <a:r>
              <a:rPr sz="2700" b="1" i="0">
                <a:solidFill>
                  <a:srgbClr val="EAB308"/>
                </a:solidFill>
              </a:rPr>
              <a:t>05</a:t>
            </a:r>
          </a:p>
        </p:txBody>
      </p:sp>
      <p:sp>
        <p:nvSpPr>
          <p:cNvPr id="30" name="mock-kpi-in-progress">
            <a:extLst xmlns:a="http://schemas.openxmlformats.org/drawingml/2006/main">
              <a:ext uri="{FF2B5EF4-FFF2-40B4-BE49-F238E27FC236}">
                <a16:creationId xmlns:a16="http://schemas.microsoft.com/office/drawing/2014/main" id="{638CF18F-6D99-4E12-9FFE-5C940463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4150" y="4133850"/>
            <a:ext cx="22161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6192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068720-D5D8-40CB-9BE9-4E75E749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67200"/>
            <a:ext cx="19050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4748B"/>
                </a:solidFill>
              </a:defRPr>
            </a:pPr>
            <a:r>
              <a:rPr sz="1050" b="1" i="0">
                <a:solidFill>
                  <a:srgbClr val="64748B"/>
                </a:solidFill>
              </a:rPr>
              <a:t>In Progress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D90A52-0766-4941-8BB7-4FAC344B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38650"/>
            <a:ext cx="1905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3B82F6"/>
                </a:solidFill>
              </a:defRPr>
            </a:pPr>
            <a:r>
              <a:rPr sz="2700" b="1" i="0">
                <a:solidFill>
                  <a:srgbClr val="3B82F6"/>
                </a:solidFill>
              </a:rPr>
              <a:t>07</a:t>
            </a:r>
          </a:p>
        </p:txBody>
      </p:sp>
      <p:sp>
        <p:nvSpPr>
          <p:cNvPr id="33" name="mock-kpi-completed">
            <a:extLst xmlns:a="http://schemas.openxmlformats.org/drawingml/2006/main">
              <a:ext uri="{FF2B5EF4-FFF2-40B4-BE49-F238E27FC236}">
                <a16:creationId xmlns:a16="http://schemas.microsoft.com/office/drawing/2014/main" id="{20F67A56-6265-46FC-952C-A0DFDF38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62550"/>
            <a:ext cx="22161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6192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B07104-6FE1-449E-B8E6-ECE2E91E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295900"/>
            <a:ext cx="19050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4748B"/>
                </a:solidFill>
              </a:defRPr>
            </a:pPr>
            <a:r>
              <a:rPr sz="1050" b="1" i="0">
                <a:solidFill>
                  <a:srgbClr val="64748B"/>
                </a:solidFill>
              </a:rPr>
              <a:t>Completed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41E1D0-8984-4032-8662-7DB1CEAC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467350"/>
            <a:ext cx="1905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0B981"/>
                </a:solidFill>
              </a:defRPr>
            </a:pPr>
            <a:r>
              <a:rPr sz="2700" b="1" i="0">
                <a:solidFill>
                  <a:srgbClr val="10B981"/>
                </a:solidFill>
              </a:rPr>
              <a:t>11</a:t>
            </a:r>
          </a:p>
        </p:txBody>
      </p:sp>
      <p:sp>
        <p:nvSpPr>
          <p:cNvPr id="36" name="mock-kpi-cancelled">
            <a:extLst xmlns:a="http://schemas.openxmlformats.org/drawingml/2006/main">
              <a:ext uri="{FF2B5EF4-FFF2-40B4-BE49-F238E27FC236}">
                <a16:creationId xmlns:a16="http://schemas.microsoft.com/office/drawing/2014/main" id="{7306C05E-DE4C-4504-A233-F234677E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700" y="5162550"/>
            <a:ext cx="22161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6192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14B7EB-CA7E-42E9-8DB9-C22CB04E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95900"/>
            <a:ext cx="19050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4748B"/>
                </a:solidFill>
              </a:defRPr>
            </a:pPr>
            <a:r>
              <a:rPr sz="1050" b="1" i="0">
                <a:solidFill>
                  <a:srgbClr val="64748B"/>
                </a:solidFill>
              </a:rPr>
              <a:t>Cancelled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D839B5-9820-4E71-B567-184B9B85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467350"/>
            <a:ext cx="1905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EF4444"/>
                </a:solidFill>
              </a:defRPr>
            </a:pPr>
            <a:r>
              <a:rPr sz="2700" b="1" i="0">
                <a:solidFill>
                  <a:srgbClr val="EF4444"/>
                </a:solidFill>
              </a:rPr>
              <a:t>01</a:t>
            </a:r>
          </a:p>
        </p:txBody>
      </p:sp>
      <p:sp>
        <p:nvSpPr>
          <p:cNvPr id="39" name="mock-kpi-revenue-est-">
            <a:extLst xmlns:a="http://schemas.openxmlformats.org/drawingml/2006/main">
              <a:ext uri="{FF2B5EF4-FFF2-40B4-BE49-F238E27FC236}">
                <a16:creationId xmlns:a16="http://schemas.microsoft.com/office/drawing/2014/main" id="{F302282E-D796-49CC-8031-13F7363F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4150" y="5162550"/>
            <a:ext cx="22161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6192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3C05FE-CB04-4C6C-98E3-867E4064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295900"/>
            <a:ext cx="19050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4748B"/>
                </a:solidFill>
              </a:defRPr>
            </a:pPr>
            <a:r>
              <a:rPr sz="1050" b="1" i="0">
                <a:solidFill>
                  <a:srgbClr val="64748B"/>
                </a:solidFill>
              </a:rPr>
              <a:t>Revenue Est.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8DB3C9E-E160-4C9E-B0F2-E2CA670E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467350"/>
            <a:ext cx="1905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A855F7"/>
                </a:solidFill>
              </a:defRPr>
            </a:pPr>
            <a:r>
              <a:rPr sz="2700" b="1" i="0">
                <a:solidFill>
                  <a:srgbClr val="A855F7"/>
                </a:solidFill>
              </a:rPr>
              <a:t>$8.2k</a:t>
            </a:r>
          </a:p>
        </p:txBody>
      </p:sp>
      <p:sp>
        <p:nvSpPr>
          <p:cNvPr id="42" name="frontend-note-state">
            <a:extLst xmlns:a="http://schemas.openxmlformats.org/drawingml/2006/main">
              <a:ext uri="{FF2B5EF4-FFF2-40B4-BE49-F238E27FC236}">
                <a16:creationId xmlns:a16="http://schemas.microsoft.com/office/drawing/2014/main" id="{A658829E-51B7-4628-815E-325F333B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733550"/>
            <a:ext cx="70675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F1117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A1A2D3-A230-4FC8-9647-5218287B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924050"/>
            <a:ext cx="6610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F1F5F9"/>
                </a:solidFill>
              </a:defRPr>
            </a:pPr>
            <a:r>
              <a:rPr sz="1800" b="0" i="0">
                <a:solidFill>
                  <a:srgbClr val="F1F5F9"/>
                </a:solidFill>
              </a:rPr>
              <a:t>App.jsx owns session state, active tab, repair data, filters, dashboard calculations, and CRUD handlers.</a:t>
            </a:r>
          </a:p>
        </p:txBody>
      </p:sp>
      <p:sp>
        <p:nvSpPr>
          <p:cNvPr id="44" name="frontend-note-components">
            <a:extLst xmlns:a="http://schemas.openxmlformats.org/drawingml/2006/main">
              <a:ext uri="{FF2B5EF4-FFF2-40B4-BE49-F238E27FC236}">
                <a16:creationId xmlns:a16="http://schemas.microsoft.com/office/drawing/2014/main" id="{2A91D8FF-79C0-41F7-A0F7-CECBB628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333750"/>
            <a:ext cx="70675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F1117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BD1E553-E1A9-4A50-A118-E37C1BD0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524250"/>
            <a:ext cx="6610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F1F5F9"/>
                </a:solidFill>
              </a:defRPr>
            </a:pPr>
            <a:r>
              <a:rPr sz="1800" b="0" i="0">
                <a:solidFill>
                  <a:srgbClr val="F1F5F9"/>
                </a:solidFill>
              </a:rPr>
              <a:t>Components split by job: AuthForm, RepairForm, RepairList, RepairItem, and CustomerTrack.</a:t>
            </a:r>
          </a:p>
        </p:txBody>
      </p:sp>
      <p:sp>
        <p:nvSpPr>
          <p:cNvPr id="46" name="frontend-note-ux">
            <a:extLst xmlns:a="http://schemas.openxmlformats.org/drawingml/2006/main">
              <a:ext uri="{FF2B5EF4-FFF2-40B4-BE49-F238E27FC236}">
                <a16:creationId xmlns:a16="http://schemas.microsoft.com/office/drawing/2014/main" id="{28E4B045-614D-49C6-B225-E6D7BA1F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933950"/>
            <a:ext cx="70675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F1117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BD073D3-78AB-41B2-9C7B-81C21F9A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124450"/>
            <a:ext cx="6610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F1F5F9"/>
                </a:solidFill>
              </a:defRPr>
            </a:pPr>
            <a:r>
              <a:rPr sz="1800" b="0" i="0">
                <a:solidFill>
                  <a:srgbClr val="F1F5F9"/>
                </a:solidFill>
              </a:rPr>
              <a:t>The visual system uses dark surfaces, amber action states, and colored status badges for operational scanning.</a:t>
            </a:r>
          </a:p>
        </p:txBody>
      </p:sp>
      <p:sp>
        <p:nvSpPr>
          <p:cNvPr id="4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4753AE0-EDBA-4995-866F-53EE69DC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0"/>
            <a:ext cx="160210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rPr sz="1050" b="0" i="0">
                <a:solidFill>
                  <a:srgbClr val="64748B"/>
                </a:solidFill>
              </a:rPr>
              <a:t>Repair Manager website report</a:t>
            </a:r>
          </a:p>
        </p:txBody>
      </p:sp>
      <p:sp>
        <p:nvSpPr>
          <p:cNvPr id="4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63E666A-F87F-4A98-A303-ACFC14C4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601200"/>
            <a:ext cx="6667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rPr sz="1050" b="0" i="0">
                <a:solidFill>
                  <a:srgbClr val="64748B"/>
                </a:solidFill>
              </a:rPr>
              <a:t>4/10</a:t>
            </a:r>
          </a:p>
        </p:txBody>
      </p:sp>
    </p:spTree>
    <p:extLst>
      <p:ext uri="{BB962C8B-B14F-4D97-AF65-F5344CB8AC3E}">
        <p14:creationId xmlns:p14="http://schemas.microsoft.com/office/powerpoint/2010/main" val="6485324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09D24B0E-FA14-4959-828C-15A509EE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oundRect">
            <a:avLst>
              <a:gd name="adj" fmla="val 741"/>
            </a:avLst>
          </a:prstGeom>
          <a:solidFill xmlns:a="http://schemas.openxmlformats.org/drawingml/2006/main">
            <a:srgbClr val="080A0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51071A-A1FB-4066-BB66-BB927812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6916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F1F5F9"/>
                </a:solidFill>
              </a:defRPr>
            </a:pPr>
            <a:r>
              <a:rPr sz="4050" b="1" i="0">
                <a:solidFill>
                  <a:srgbClr val="F1F5F9"/>
                </a:solidFill>
              </a:rPr>
              <a:t>Backend API and authentication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D213DB8-7379-4195-BE89-176133D0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6916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94A3B8"/>
                </a:solidFill>
              </a:defRPr>
            </a:pPr>
            <a:r>
              <a:rPr sz="1800" b="0" i="0">
                <a:solidFill>
                  <a:srgbClr val="94A3B8"/>
                </a:solidFill>
              </a:rPr>
              <a:t>Express routes separate public tracking from private staff operations, then use JWT middleware to protect repair data.</a:t>
            </a:r>
          </a:p>
        </p:txBody>
      </p:sp>
      <p:sp>
        <p:nvSpPr>
          <p:cNvPr id="4" name="jwt-flow">
            <a:extLst xmlns:a="http://schemas.openxmlformats.org/drawingml/2006/main">
              <a:ext uri="{FF2B5EF4-FFF2-40B4-BE49-F238E27FC236}">
                <a16:creationId xmlns:a16="http://schemas.microsoft.com/office/drawing/2014/main" id="{CD1C07BD-35ED-4D44-9EBF-0E03F5E4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7632573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F1117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D99F24-540F-45CF-A273-8C62BB65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7143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1F5F9"/>
                </a:solidFill>
              </a:defRPr>
            </a:pPr>
            <a:r>
              <a:rPr sz="2700" b="1" i="0">
                <a:solidFill>
                  <a:srgbClr val="F1F5F9"/>
                </a:solidFill>
              </a:rPr>
              <a:t>JWT login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B210A-3F6B-4D5F-A477-80D29AB6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714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94A3B8"/>
                </a:solidFill>
              </a:defRPr>
            </a:pPr>
            <a:r>
              <a:rPr sz="1650" b="0" i="0">
                <a:solidFill>
                  <a:srgbClr val="94A3B8"/>
                </a:solidFill>
              </a:rPr>
              <a:t>1. Staff submits credentials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E63382-21C9-4FB7-A219-BB95C74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714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94A3B8"/>
                </a:solidFill>
              </a:defRPr>
            </a:pPr>
            <a:r>
              <a:rPr sz="1650" b="0" i="0">
                <a:solidFill>
                  <a:srgbClr val="94A3B8"/>
                </a:solidFill>
              </a:rPr>
              <a:t>2. Backend verifies bcrypt hash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01E53-CC6B-42AE-AECE-9CD37F1F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67050"/>
            <a:ext cx="714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94A3B8"/>
                </a:solidFill>
              </a:defRPr>
            </a:pPr>
            <a:r>
              <a:rPr sz="1650" b="0" i="0">
                <a:solidFill>
                  <a:srgbClr val="94A3B8"/>
                </a:solidFill>
              </a:rPr>
              <a:t>3. API returns a 7-day token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487B5B-37AC-4FDA-BBB5-F34BD731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714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94A3B8"/>
                </a:solidFill>
              </a:defRPr>
            </a:pPr>
            <a:r>
              <a:rPr sz="1650" b="0" i="0">
                <a:solidFill>
                  <a:srgbClr val="94A3B8"/>
                </a:solidFill>
              </a:rPr>
              <a:t>4. Frontend sends Bearer token on private repair requests</a:t>
            </a:r>
          </a:p>
        </p:txBody>
      </p:sp>
      <p:sp>
        <p:nvSpPr>
          <p:cNvPr id="10" name="protected-note">
            <a:extLst xmlns:a="http://schemas.openxmlformats.org/drawingml/2006/main">
              <a:ext uri="{FF2B5EF4-FFF2-40B4-BE49-F238E27FC236}">
                <a16:creationId xmlns:a16="http://schemas.microsoft.com/office/drawing/2014/main" id="{A8FB75C6-5622-4E9C-BBF2-0EC4AF6A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7632573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59E0B">
              <a:alpha val="16000"/>
            </a:srgbClr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B14AEA-B14D-4E90-9FCB-3D167F50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0"/>
            <a:ext cx="7143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F1F5F9"/>
                </a:solidFill>
              </a:defRPr>
            </a:pPr>
            <a:r>
              <a:rPr sz="2100" b="0" i="0">
                <a:solidFill>
                  <a:srgbClr val="F1F5F9"/>
                </a:solidFill>
              </a:rPr>
              <a:t>The protect middleware verifies the token, loads the user, and rejects missing or invalid credentials with 401 responses.</a:t>
            </a:r>
          </a:p>
        </p:txBody>
      </p:sp>
      <p:sp>
        <p:nvSpPr>
          <p:cNvPr id="12" name="routes-table">
            <a:extLst xmlns:a="http://schemas.openxmlformats.org/drawingml/2006/main">
              <a:ext uri="{FF2B5EF4-FFF2-40B4-BE49-F238E27FC236}">
                <a16:creationId xmlns:a16="http://schemas.microsoft.com/office/drawing/2014/main" id="{FDA457CA-3928-4921-B4D0-EE80B48F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223" y="1733550"/>
            <a:ext cx="8959977" cy="7543800"/>
          </a:xfrm>
          <a:prstGeom xmlns:a="http://schemas.openxmlformats.org/drawingml/2006/main" prst="roundRect">
            <a:avLst>
              <a:gd name="adj" fmla="val 1010"/>
            </a:avLst>
          </a:prstGeom>
          <a:solidFill xmlns:a="http://schemas.openxmlformats.org/drawingml/2006/main">
            <a:srgbClr val="0F1117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CB720B-1A28-4DC1-A735-98EED195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43100"/>
            <a:ext cx="8496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1F5F9"/>
                </a:solidFill>
              </a:defRPr>
            </a:pPr>
            <a:r>
              <a:rPr sz="2550" b="1" i="0">
                <a:solidFill>
                  <a:srgbClr val="F1F5F9"/>
                </a:solidFill>
              </a:rPr>
              <a:t>Routes implemented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5C801-98B6-4383-B1D6-69E3F5E2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0823" y="2371725"/>
            <a:ext cx="781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9E0B">
              <a:alpha val="16000"/>
            </a:srgbClr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718ED8-2A43-4D9C-BE58-6D65B1E1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95550"/>
            <a:ext cx="590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1F5F9"/>
                </a:solidFill>
              </a:defRPr>
            </a:pPr>
            <a:r>
              <a:rPr sz="1125" b="1" i="0">
                <a:solidFill>
                  <a:srgbClr val="F1F5F9"/>
                </a:solidFill>
              </a:rPr>
              <a:t>POST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1CD5C1-24E6-46C9-A65C-3020D331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81250"/>
            <a:ext cx="7581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F1F5F9"/>
                </a:solidFill>
              </a:defRPr>
            </a:pPr>
            <a:r>
              <a:rPr sz="1425" b="0" i="0">
                <a:solidFill>
                  <a:srgbClr val="F1F5F9"/>
                </a:solidFill>
              </a:rPr>
              <a:t>/api/auth/signup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99B566-B255-435A-83B8-4F780BCE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0823" y="2933700"/>
            <a:ext cx="781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9E0B">
              <a:alpha val="16000"/>
            </a:srgbClr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7031C0-6422-4730-BE5D-36557F4E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48000"/>
            <a:ext cx="590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1F5F9"/>
                </a:solidFill>
              </a:defRPr>
            </a:pPr>
            <a:r>
              <a:rPr sz="1125" b="1" i="0">
                <a:solidFill>
                  <a:srgbClr val="F1F5F9"/>
                </a:solidFill>
              </a:rPr>
              <a:t>POST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D8A484-0EED-463C-B67B-28C40ACC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33700"/>
            <a:ext cx="7581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F1F5F9"/>
                </a:solidFill>
              </a:defRPr>
            </a:pPr>
            <a:r>
              <a:rPr sz="1425" b="0" i="0">
                <a:solidFill>
                  <a:srgbClr val="F1F5F9"/>
                </a:solidFill>
              </a:rPr>
              <a:t>/api/auth/login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B5F9FC-9F36-4E6B-8BE0-7A6CF9A1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0823" y="3495675"/>
            <a:ext cx="781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9E0B">
              <a:alpha val="16000"/>
            </a:srgbClr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CD9C78-C6B4-4004-BA47-516F2472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19500"/>
            <a:ext cx="590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1F5F9"/>
                </a:solidFill>
              </a:defRPr>
            </a:pPr>
            <a:r>
              <a:rPr sz="1125" b="1" i="0">
                <a:solidFill>
                  <a:srgbClr val="F1F5F9"/>
                </a:solidFill>
              </a:rPr>
              <a:t>GET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BEBEDF-39F4-41E5-BC43-0502DE0C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505200"/>
            <a:ext cx="7581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F1F5F9"/>
                </a:solidFill>
              </a:defRPr>
            </a:pPr>
            <a:r>
              <a:rPr sz="1425" b="0" i="0">
                <a:solidFill>
                  <a:srgbClr val="F1F5F9"/>
                </a:solidFill>
              </a:rPr>
              <a:t>/api/auth/me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44F552-D7B5-4740-8BE9-F1D67FCC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0823" y="4057650"/>
            <a:ext cx="781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B981">
              <a:alpha val="16000"/>
            </a:srgbClr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85557A-1DD6-428A-9651-0397D7AA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71950"/>
            <a:ext cx="590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1F5F9"/>
                </a:solidFill>
              </a:defRPr>
            </a:pPr>
            <a:r>
              <a:rPr sz="1125" b="1" i="0">
                <a:solidFill>
                  <a:srgbClr val="F1F5F9"/>
                </a:solidFill>
              </a:rPr>
              <a:t>GET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D6A77E-A0EA-407F-9472-91E1E2EB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057650"/>
            <a:ext cx="7581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F1F5F9"/>
                </a:solidFill>
              </a:defRPr>
            </a:pPr>
            <a:r>
              <a:rPr sz="1425" b="0" i="0">
                <a:solidFill>
                  <a:srgbClr val="F1F5F9"/>
                </a:solidFill>
              </a:rPr>
              <a:t>/api/repairs/track/:code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471187-556B-4493-AED0-52A2E5C6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0823" y="4619625"/>
            <a:ext cx="781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B82F6">
              <a:alpha val="16000"/>
            </a:srgbClr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C977D4-FADB-4054-8DF2-4977D03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743450"/>
            <a:ext cx="590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1F5F9"/>
                </a:solidFill>
              </a:defRPr>
            </a:pPr>
            <a:r>
              <a:rPr sz="1125" b="1" i="0">
                <a:solidFill>
                  <a:srgbClr val="F1F5F9"/>
                </a:solidFill>
              </a:rPr>
              <a:t>POST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A22378-065C-40E7-A4B3-E9060908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629150"/>
            <a:ext cx="7581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F1F5F9"/>
                </a:solidFill>
              </a:defRPr>
            </a:pPr>
            <a:r>
              <a:rPr sz="1425" b="0" i="0">
                <a:solidFill>
                  <a:srgbClr val="F1F5F9"/>
                </a:solidFill>
              </a:rPr>
              <a:t>/api/repairs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B6391F-FEDC-495D-BCFF-E2C210ED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0823" y="5181600"/>
            <a:ext cx="781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B82F6">
              <a:alpha val="16000"/>
            </a:srgbClr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EFF011-ABE0-4517-8BC1-3737327F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295900"/>
            <a:ext cx="590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1F5F9"/>
                </a:solidFill>
              </a:defRPr>
            </a:pPr>
            <a:r>
              <a:rPr sz="1125" b="1" i="0">
                <a:solidFill>
                  <a:srgbClr val="F1F5F9"/>
                </a:solidFill>
              </a:rPr>
              <a:t>GET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B706B8-D284-40D1-9FCA-E670C323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81600"/>
            <a:ext cx="7581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F1F5F9"/>
                </a:solidFill>
              </a:defRPr>
            </a:pPr>
            <a:r>
              <a:rPr sz="1425" b="0" i="0">
                <a:solidFill>
                  <a:srgbClr val="F1F5F9"/>
                </a:solidFill>
              </a:rPr>
              <a:t>/api/repairs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C96CBA-3DED-4F58-9B71-481F5F7A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0823" y="5743575"/>
            <a:ext cx="781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B82F6">
              <a:alpha val="16000"/>
            </a:srgbClr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1F376B-E2A8-4289-92E6-8B611351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867400"/>
            <a:ext cx="590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1F5F9"/>
                </a:solidFill>
              </a:defRPr>
            </a:pPr>
            <a:r>
              <a:rPr sz="1125" b="1" i="0">
                <a:solidFill>
                  <a:srgbClr val="F1F5F9"/>
                </a:solidFill>
              </a:rPr>
              <a:t>PUT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530B3F-EB2A-4CAF-BC15-13BCE386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753100"/>
            <a:ext cx="7581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F1F5F9"/>
                </a:solidFill>
              </a:defRPr>
            </a:pPr>
            <a:r>
              <a:rPr sz="1425" b="0" i="0">
                <a:solidFill>
                  <a:srgbClr val="F1F5F9"/>
                </a:solidFill>
              </a:rPr>
              <a:t>/api/repairs/:id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6F1C53-97E4-4976-8AB6-5BCD59B7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0823" y="6305550"/>
            <a:ext cx="781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4444">
              <a:alpha val="14000"/>
            </a:srgbClr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B49BC4-E8A5-4093-9D3E-F400FC79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419850"/>
            <a:ext cx="590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1F5F9"/>
                </a:solidFill>
              </a:defRPr>
            </a:pPr>
            <a:r>
              <a:rPr sz="1125" b="1" i="0">
                <a:solidFill>
                  <a:srgbClr val="F1F5F9"/>
                </a:solidFill>
              </a:rPr>
              <a:t>DELETE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0AE0BA-AB77-4D8C-8107-6383BC4F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305550"/>
            <a:ext cx="7581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F1F5F9"/>
                </a:solidFill>
              </a:defRPr>
            </a:pPr>
            <a:r>
              <a:rPr sz="1425" b="0" i="0">
                <a:solidFill>
                  <a:srgbClr val="F1F5F9"/>
                </a:solidFill>
              </a:rPr>
              <a:t>/api/repairs/:id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4CA241-0822-43AB-AA43-E165F368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0823" y="6867525"/>
            <a:ext cx="781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B82F6">
              <a:alpha val="16000"/>
            </a:srgbClr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CD2F93-A333-4E93-B258-4F99B100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991350"/>
            <a:ext cx="590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1F5F9"/>
                </a:solidFill>
              </a:defRPr>
            </a:pPr>
            <a:r>
              <a:rPr sz="1125" b="1" i="0">
                <a:solidFill>
                  <a:srgbClr val="F1F5F9"/>
                </a:solidFill>
              </a:rPr>
              <a:t>PATCH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EA271E-1C01-4DB6-9469-53E64655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877050"/>
            <a:ext cx="7581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F1F5F9"/>
                </a:solidFill>
              </a:defRPr>
            </a:pPr>
            <a:r>
              <a:rPr sz="1425" b="0" i="0">
                <a:solidFill>
                  <a:srgbClr val="F1F5F9"/>
                </a:solidFill>
              </a:rPr>
              <a:t>/api/repairs/:id/complete</a:t>
            </a:r>
          </a:p>
        </p:txBody>
      </p:sp>
      <p:sp>
        <p:nvSpPr>
          <p:cNvPr id="4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185F522-FD0E-47D9-AF8A-2AD094BA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0"/>
            <a:ext cx="160210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rPr sz="1050" b="0" i="0">
                <a:solidFill>
                  <a:srgbClr val="64748B"/>
                </a:solidFill>
              </a:rPr>
              <a:t>Repair Manager website report</a:t>
            </a:r>
          </a:p>
        </p:txBody>
      </p:sp>
      <p:sp>
        <p:nvSpPr>
          <p:cNvPr id="4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F38DB4B-7B49-4E82-A1D2-1DA0E2B7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601200"/>
            <a:ext cx="6667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rPr sz="1050" b="0" i="0">
                <a:solidFill>
                  <a:srgbClr val="64748B"/>
                </a:solidFill>
              </a:rPr>
              <a:t>5/10</a:t>
            </a:r>
          </a:p>
        </p:txBody>
      </p:sp>
    </p:spTree>
    <p:extLst>
      <p:ext uri="{BB962C8B-B14F-4D97-AF65-F5344CB8AC3E}">
        <p14:creationId xmlns:p14="http://schemas.microsoft.com/office/powerpoint/2010/main" val="151230161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9FBF3DE1-FFC3-4AAF-984B-D332F571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oundRect">
            <a:avLst>
              <a:gd name="adj" fmla="val 741"/>
            </a:avLst>
          </a:prstGeom>
          <a:solidFill xmlns:a="http://schemas.openxmlformats.org/drawingml/2006/main">
            <a:srgbClr val="080A0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F214DC5-036E-4DAC-9763-155BC5B5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6916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F1F5F9"/>
                </a:solidFill>
              </a:defRPr>
            </a:pPr>
            <a:r>
              <a:rPr sz="4050" b="1" i="0">
                <a:solidFill>
                  <a:srgbClr val="F1F5F9"/>
                </a:solidFill>
              </a:rPr>
              <a:t>Database model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B838308-5D9A-4C7B-8FC7-D07F4E9A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6916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94A3B8"/>
                </a:solidFill>
              </a:defRPr>
            </a:pPr>
            <a:r>
              <a:rPr sz="1800" b="0" i="0">
                <a:solidFill>
                  <a:srgbClr val="94A3B8"/>
                </a:solidFill>
              </a:rPr>
              <a:t>MongoDB stores a simple ownership model: users own repair jobs, while each repair job has a stable customer tracking code.</a:t>
            </a:r>
          </a:p>
        </p:txBody>
      </p:sp>
      <p:sp>
        <p:nvSpPr>
          <p:cNvPr id="4" name="model-User">
            <a:extLst xmlns:a="http://schemas.openxmlformats.org/drawingml/2006/main">
              <a:ext uri="{FF2B5EF4-FFF2-40B4-BE49-F238E27FC236}">
                <a16:creationId xmlns:a16="http://schemas.microsoft.com/office/drawing/2014/main" id="{E6F3EC51-881E-4E1A-9265-79BDC6B2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6943725" cy="7543800"/>
          </a:xfrm>
          <a:prstGeom xmlns:a="http://schemas.openxmlformats.org/drawingml/2006/main" prst="roundRect">
            <a:avLst>
              <a:gd name="adj" fmla="val 1097"/>
            </a:avLst>
          </a:prstGeom>
          <a:solidFill xmlns:a="http://schemas.openxmlformats.org/drawingml/2006/main">
            <a:srgbClr val="0F1117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6CB0F0-7B48-45D9-B152-242E1CD6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933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C879A7-34AD-4815-84AF-FC10FBF7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6457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925" b="1" i="0">
                <a:solidFill>
                  <a:srgbClr val="F1F5F9"/>
                </a:solidFill>
              </a:defRPr>
            </a:pPr>
            <a:r>
              <a:rPr sz="2925" b="1" i="0">
                <a:solidFill>
                  <a:srgbClr val="F1F5F9"/>
                </a:solidFill>
              </a:rPr>
              <a:t>User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1A99C-948D-4857-BA1D-8D2707CD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09850"/>
            <a:ext cx="1676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F59E0B"/>
                </a:solidFill>
              </a:defRPr>
            </a:pPr>
            <a:r>
              <a:rPr sz="1275" b="0" i="0">
                <a:solidFill>
                  <a:srgbClr val="F59E0B"/>
                </a:solidFill>
              </a:rPr>
              <a:t>name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38088F-67F4-48F6-B232-583A9E35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09850"/>
            <a:ext cx="466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94A3B8"/>
                </a:solidFill>
              </a:defRPr>
            </a:pPr>
            <a:r>
              <a:rPr sz="1350" b="0" i="0">
                <a:solidFill>
                  <a:srgbClr val="94A3B8"/>
                </a:solidFill>
              </a:rPr>
              <a:t>Required staff display name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06960D-203D-4D20-B2F5-F7B7BA80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43250"/>
            <a:ext cx="1676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F59E0B"/>
                </a:solidFill>
              </a:defRPr>
            </a:pPr>
            <a:r>
              <a:rPr sz="1275" b="0" i="0">
                <a:solidFill>
                  <a:srgbClr val="F59E0B"/>
                </a:solidFill>
              </a:rPr>
              <a:t>email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ABAD4B-E33C-427B-B9D6-D0B75669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43250"/>
            <a:ext cx="466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94A3B8"/>
                </a:solidFill>
              </a:defRPr>
            </a:pPr>
            <a:r>
              <a:rPr sz="1350" b="0" i="0">
                <a:solidFill>
                  <a:srgbClr val="94A3B8"/>
                </a:solidFill>
              </a:rPr>
              <a:t>Unique login identity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12DA6D-E2DE-4A30-ABEC-08357919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57600"/>
            <a:ext cx="1676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F59E0B"/>
                </a:solidFill>
              </a:defRPr>
            </a:pPr>
            <a:r>
              <a:rPr sz="1275" b="0" i="0">
                <a:solidFill>
                  <a:srgbClr val="F59E0B"/>
                </a:solidFill>
              </a:rPr>
              <a:t>password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C24E4F-B3EA-4683-9436-05B1CF05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57600"/>
            <a:ext cx="466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94A3B8"/>
                </a:solidFill>
              </a:defRPr>
            </a:pPr>
            <a:r>
              <a:rPr sz="1350" b="0" i="0">
                <a:solidFill>
                  <a:srgbClr val="94A3B8"/>
                </a:solidFill>
              </a:rPr>
              <a:t>Hashed with bcrypt, hidden by default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B97480-C520-485C-8835-F4882A62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91000"/>
            <a:ext cx="1676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F59E0B"/>
                </a:solidFill>
              </a:defRPr>
            </a:pPr>
            <a:r>
              <a:rPr sz="1275" b="0" i="0">
                <a:solidFill>
                  <a:srgbClr val="F59E0B"/>
                </a:solidFill>
              </a:rPr>
              <a:t>timestamps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5F5805-077C-4160-8742-FE26185A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91000"/>
            <a:ext cx="466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94A3B8"/>
                </a:solidFill>
              </a:defRPr>
            </a:pPr>
            <a:r>
              <a:rPr sz="1350" b="0" i="0">
                <a:solidFill>
                  <a:srgbClr val="94A3B8"/>
                </a:solidFill>
              </a:rPr>
              <a:t>Created and updated metadata</a:t>
            </a:r>
          </a:p>
        </p:txBody>
      </p:sp>
      <p:sp>
        <p:nvSpPr>
          <p:cNvPr id="15" name="relationship">
            <a:extLst xmlns:a="http://schemas.openxmlformats.org/drawingml/2006/main">
              <a:ext uri="{FF2B5EF4-FFF2-40B4-BE49-F238E27FC236}">
                <a16:creationId xmlns:a16="http://schemas.microsoft.com/office/drawing/2014/main" id="{5F048D84-CFB4-42E3-A8AF-DED9DCB4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33550"/>
            <a:ext cx="2381250" cy="75438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>
              <a:alpha val="2000"/>
            </a:srgbClr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9AA109-F8FA-468B-AB8B-F3B3FD39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24250"/>
            <a:ext cx="2000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1F5F9"/>
                </a:solidFill>
              </a:defRPr>
            </a:pPr>
            <a:r>
              <a:rPr sz="1800" b="1" i="0">
                <a:solidFill>
                  <a:srgbClr val="F1F5F9"/>
                </a:solidFill>
              </a:rPr>
              <a:t>1 user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05FC24-48E4-4F02-99FE-135FF7CB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8620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9899FA-5517-44E8-B77B-EAC109B7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57650"/>
            <a:ext cx="2000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1F5F9"/>
                </a:solidFill>
              </a:defRPr>
            </a:pPr>
            <a:r>
              <a:rPr sz="1800" b="1" i="0">
                <a:solidFill>
                  <a:srgbClr val="F1F5F9"/>
                </a:solidFill>
              </a:rPr>
              <a:t>many repair jobs</a:t>
            </a:r>
          </a:p>
        </p:txBody>
      </p:sp>
      <p:sp>
        <p:nvSpPr>
          <p:cNvPr id="19" name="model-RepairJob">
            <a:extLst xmlns:a="http://schemas.openxmlformats.org/drawingml/2006/main">
              <a:ext uri="{FF2B5EF4-FFF2-40B4-BE49-F238E27FC236}">
                <a16:creationId xmlns:a16="http://schemas.microsoft.com/office/drawing/2014/main" id="{3A2B9885-05E7-43DB-92D1-AB267270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1733550"/>
            <a:ext cx="6943725" cy="7543800"/>
          </a:xfrm>
          <a:prstGeom xmlns:a="http://schemas.openxmlformats.org/drawingml/2006/main" prst="roundRect">
            <a:avLst>
              <a:gd name="adj" fmla="val 1097"/>
            </a:avLst>
          </a:prstGeom>
          <a:solidFill xmlns:a="http://schemas.openxmlformats.org/drawingml/2006/main">
            <a:srgbClr val="0F1117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EEF10D-113F-4B36-9402-4B96562A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1962150"/>
            <a:ext cx="933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C0DB9F-0E6B-48BA-8552-E76C729B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2133600"/>
            <a:ext cx="6457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925" b="1" i="0">
                <a:solidFill>
                  <a:srgbClr val="F1F5F9"/>
                </a:solidFill>
              </a:defRPr>
            </a:pPr>
            <a:r>
              <a:rPr sz="2925" b="1" i="0">
                <a:solidFill>
                  <a:srgbClr val="F1F5F9"/>
                </a:solidFill>
              </a:rPr>
              <a:t>RepairJob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844A5C-4CFA-43ED-93DC-802FE035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2609850"/>
            <a:ext cx="1676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F59E0B"/>
                </a:solidFill>
              </a:defRPr>
            </a:pPr>
            <a:r>
              <a:rPr sz="1275" b="0" i="0">
                <a:solidFill>
                  <a:srgbClr val="F59E0B"/>
                </a:solidFill>
              </a:rPr>
              <a:t>user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725F80-C68B-4A02-89B2-5F2E87B5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2609850"/>
            <a:ext cx="466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94A3B8"/>
                </a:solidFill>
              </a:defRPr>
            </a:pPr>
            <a:r>
              <a:rPr sz="1350" b="0" i="0">
                <a:solidFill>
                  <a:srgbClr val="94A3B8"/>
                </a:solidFill>
              </a:rPr>
              <a:t>Owner reference and query scope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A44A49-26A9-47F0-92E3-1E096723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143250"/>
            <a:ext cx="1676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F59E0B"/>
                </a:solidFill>
              </a:defRPr>
            </a:pPr>
            <a:r>
              <a:rPr sz="1275" b="0" i="0">
                <a:solidFill>
                  <a:srgbClr val="F59E0B"/>
                </a:solidFill>
              </a:rPr>
              <a:t>trackingCode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1A23F1-E33A-4A64-AECB-7FF0C854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3143250"/>
            <a:ext cx="466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94A3B8"/>
                </a:solidFill>
              </a:defRPr>
            </a:pPr>
            <a:r>
              <a:rPr sz="1350" b="0" i="0">
                <a:solidFill>
                  <a:srgbClr val="94A3B8"/>
                </a:solidFill>
              </a:rPr>
              <a:t>Unique public lookup code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84D907-DE8A-4B59-AFE6-00212C2D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657600"/>
            <a:ext cx="1676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F59E0B"/>
                </a:solidFill>
              </a:defRPr>
            </a:pPr>
            <a:r>
              <a:rPr sz="1275" b="0" i="0">
                <a:solidFill>
                  <a:srgbClr val="F59E0B"/>
                </a:solidFill>
              </a:rPr>
              <a:t>customerName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C84337-6B19-4E0A-B26E-CCFE2EE4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3657600"/>
            <a:ext cx="466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94A3B8"/>
                </a:solidFill>
              </a:defRPr>
            </a:pPr>
            <a:r>
              <a:rPr sz="1350" b="0" i="0">
                <a:solidFill>
                  <a:srgbClr val="94A3B8"/>
                </a:solidFill>
              </a:rPr>
              <a:t>Required customer identity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A0DCAA-DB92-48B7-94AB-E235CD19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191000"/>
            <a:ext cx="1676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F59E0B"/>
                </a:solidFill>
              </a:defRPr>
            </a:pPr>
            <a:r>
              <a:rPr sz="1275" b="0" i="0">
                <a:solidFill>
                  <a:srgbClr val="F59E0B"/>
                </a:solidFill>
              </a:rPr>
              <a:t>carModel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8738DF-D643-4992-8687-5532BDA6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4191000"/>
            <a:ext cx="466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94A3B8"/>
                </a:solidFill>
              </a:defRPr>
            </a:pPr>
            <a:r>
              <a:rPr sz="1350" b="0" i="0">
                <a:solidFill>
                  <a:srgbClr val="94A3B8"/>
                </a:solidFill>
              </a:rPr>
              <a:t>Required vehicle model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F32D8F-D59D-4DDE-B157-E94DBE55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705350"/>
            <a:ext cx="1676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F59E0B"/>
                </a:solidFill>
              </a:defRPr>
            </a:pPr>
            <a:r>
              <a:rPr sz="1275" b="0" i="0">
                <a:solidFill>
                  <a:srgbClr val="F59E0B"/>
                </a:solidFill>
              </a:rPr>
              <a:t>status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3C074D-7136-4058-ACAA-CF8745BA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4705350"/>
            <a:ext cx="466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94A3B8"/>
                </a:solidFill>
              </a:defRPr>
            </a:pPr>
            <a:r>
              <a:rPr sz="1350" b="0" i="0">
                <a:solidFill>
                  <a:srgbClr val="94A3B8"/>
                </a:solidFill>
              </a:rPr>
              <a:t>pending, in-progress, completed, cancelled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011F0E-6784-4D8A-BBDC-EA1BA44C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5238750"/>
            <a:ext cx="1676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F59E0B"/>
                </a:solidFill>
              </a:defRPr>
            </a:pPr>
            <a:r>
              <a:rPr sz="1275" b="0" i="0">
                <a:solidFill>
                  <a:srgbClr val="F59E0B"/>
                </a:solidFill>
              </a:rPr>
              <a:t>estimatedCost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015F60-8AB0-4764-85ED-7EF40429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5238750"/>
            <a:ext cx="466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94A3B8"/>
                </a:solidFill>
              </a:defRPr>
            </a:pPr>
            <a:r>
              <a:rPr sz="1350" b="0" i="0">
                <a:solidFill>
                  <a:srgbClr val="94A3B8"/>
                </a:solidFill>
              </a:rPr>
              <a:t>Planned cost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DA315A-C73C-4C5C-B25F-5BA0F1F2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5753100"/>
            <a:ext cx="1676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F59E0B"/>
                </a:solidFill>
              </a:defRPr>
            </a:pPr>
            <a:r>
              <a:rPr sz="1275" b="0" i="0">
                <a:solidFill>
                  <a:srgbClr val="F59E0B"/>
                </a:solidFill>
              </a:rPr>
              <a:t>actualCost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CFEB4A-68E3-49A3-B44E-FF6F0B5D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5753100"/>
            <a:ext cx="466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94A3B8"/>
                </a:solidFill>
              </a:defRPr>
            </a:pPr>
            <a:r>
              <a:rPr sz="1350" b="0" i="0">
                <a:solidFill>
                  <a:srgbClr val="94A3B8"/>
                </a:solidFill>
              </a:rPr>
              <a:t>Final cost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400C02-0327-4613-B899-0369E0EB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86500"/>
            <a:ext cx="1676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F59E0B"/>
                </a:solidFill>
              </a:defRPr>
            </a:pPr>
            <a:r>
              <a:rPr sz="1275" b="0" i="0">
                <a:solidFill>
                  <a:srgbClr val="F59E0B"/>
                </a:solidFill>
              </a:rPr>
              <a:t>completedAt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7A9D4F-278B-4B21-956A-FBCA94E0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6286500"/>
            <a:ext cx="466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94A3B8"/>
                </a:solidFill>
              </a:defRPr>
            </a:pPr>
            <a:r>
              <a:rPr sz="1350" b="0" i="0">
                <a:solidFill>
                  <a:srgbClr val="94A3B8"/>
                </a:solidFill>
              </a:rPr>
              <a:t>Completion timestamp</a:t>
            </a:r>
          </a:p>
        </p:txBody>
      </p:sp>
      <p:sp>
        <p:nvSpPr>
          <p:cNvPr id="3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30E3544-960A-4BBA-AEC6-8BBE20EB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0"/>
            <a:ext cx="160210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rPr sz="1050" b="0" i="0">
                <a:solidFill>
                  <a:srgbClr val="64748B"/>
                </a:solidFill>
              </a:rPr>
              <a:t>Repair Manager website report</a:t>
            </a:r>
          </a:p>
        </p:txBody>
      </p:sp>
      <p:sp>
        <p:nvSpPr>
          <p:cNvPr id="3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005DB69-D4D9-4B52-9DBC-FDDC6A19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601200"/>
            <a:ext cx="6667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rPr sz="1050" b="0" i="0">
                <a:solidFill>
                  <a:srgbClr val="64748B"/>
                </a:solidFill>
              </a:rPr>
              <a:t>6/10</a:t>
            </a:r>
          </a:p>
        </p:txBody>
      </p:sp>
    </p:spTree>
    <p:extLst>
      <p:ext uri="{BB962C8B-B14F-4D97-AF65-F5344CB8AC3E}">
        <p14:creationId xmlns:p14="http://schemas.microsoft.com/office/powerpoint/2010/main" val="193596956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324A0372-D6C4-48B6-AE6E-1E330B3C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oundRect">
            <a:avLst>
              <a:gd name="adj" fmla="val 741"/>
            </a:avLst>
          </a:prstGeom>
          <a:solidFill xmlns:a="http://schemas.openxmlformats.org/drawingml/2006/main">
            <a:srgbClr val="080A0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6FDDFA-0EB4-4987-8EFA-7AE39B90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6916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F1F5F9"/>
                </a:solidFill>
              </a:defRPr>
            </a:pPr>
            <a:r>
              <a:rPr sz="4050" b="1" i="0">
                <a:solidFill>
                  <a:srgbClr val="F1F5F9"/>
                </a:solidFill>
              </a:rPr>
              <a:t>Core user workflows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1E991B0-71FC-4234-9923-8A50E81B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6916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94A3B8"/>
                </a:solidFill>
              </a:defRPr>
            </a:pPr>
            <a:r>
              <a:rPr sz="1800" b="0" i="0">
                <a:solidFill>
                  <a:srgbClr val="94A3B8"/>
                </a:solidFill>
              </a:rPr>
              <a:t>The website supports one operational loop for staff and one lightweight status loop for customers.</a:t>
            </a:r>
          </a:p>
        </p:txBody>
      </p:sp>
      <p:sp>
        <p:nvSpPr>
          <p:cNvPr id="4" name="staff-flow">
            <a:extLst xmlns:a="http://schemas.openxmlformats.org/drawingml/2006/main">
              <a:ext uri="{FF2B5EF4-FFF2-40B4-BE49-F238E27FC236}">
                <a16:creationId xmlns:a16="http://schemas.microsoft.com/office/drawing/2014/main" id="{BF0D36E8-6890-4BF1-B501-E4459E73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8296275" cy="7543800"/>
          </a:xfrm>
          <a:prstGeom xmlns:a="http://schemas.openxmlformats.org/drawingml/2006/main" prst="roundRect">
            <a:avLst>
              <a:gd name="adj" fmla="val 1010"/>
            </a:avLst>
          </a:prstGeom>
          <a:solidFill xmlns:a="http://schemas.openxmlformats.org/drawingml/2006/main">
            <a:srgbClr val="0F1117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C5C1F4-6876-4492-A50C-6FF3C346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00250"/>
            <a:ext cx="7734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925" b="1" i="0">
                <a:solidFill>
                  <a:srgbClr val="F1F5F9"/>
                </a:solidFill>
              </a:defRPr>
            </a:pPr>
            <a:r>
              <a:rPr sz="2925" b="1" i="0">
                <a:solidFill>
                  <a:srgbClr val="F1F5F9"/>
                </a:solidFill>
              </a:rPr>
              <a:t>Staff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DF15BC-4711-4D22-967E-AB752A58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3365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A0FE5A-2056-4AE8-BB31-DFA9C64F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D55B6B-AB97-4623-BEBB-823E8036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38450"/>
            <a:ext cx="361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90B10"/>
                </a:solidFill>
              </a:defRPr>
            </a:pPr>
            <a:r>
              <a:rPr sz="2100" b="1" i="0">
                <a:solidFill>
                  <a:srgbClr val="090B10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2ABE19-1964-4A20-BD0B-519A8EAC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24150"/>
            <a:ext cx="6972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1F5F9"/>
                </a:solidFill>
              </a:defRPr>
            </a:pPr>
            <a:r>
              <a:rPr sz="1875" b="1" i="0">
                <a:solidFill>
                  <a:srgbClr val="F1F5F9"/>
                </a:solidFill>
              </a:rPr>
              <a:t>Authenticate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B31A7A-4180-4A0D-AB3A-D1EAFBD8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09900"/>
            <a:ext cx="6972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94A3B8"/>
                </a:solidFill>
              </a:defRPr>
            </a:pPr>
            <a:r>
              <a:rPr sz="1350" b="0" i="0">
                <a:solidFill>
                  <a:srgbClr val="94A3B8"/>
                </a:solidFill>
              </a:rPr>
              <a:t>Signup or login returns user profile and JWT token.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B4299C-67B9-4769-83A3-BDCE43FF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53C636-18C4-4E87-A471-756F5EAF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10000"/>
            <a:ext cx="361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90B10"/>
                </a:solidFill>
              </a:defRPr>
            </a:pPr>
            <a:r>
              <a:rPr sz="2100" b="1" i="0">
                <a:solidFill>
                  <a:srgbClr val="090B10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9E72A0-0067-40C9-8F11-65AE09B7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695700"/>
            <a:ext cx="6972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1F5F9"/>
                </a:solidFill>
              </a:defRPr>
            </a:pPr>
            <a:r>
              <a:rPr sz="1875" b="1" i="0">
                <a:solidFill>
                  <a:srgbClr val="F1F5F9"/>
                </a:solidFill>
              </a:rPr>
              <a:t>Create job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AD58EF-0EB3-4FF2-AB82-7423E94E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981450"/>
            <a:ext cx="6972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94A3B8"/>
                </a:solidFill>
              </a:defRPr>
            </a:pPr>
            <a:r>
              <a:rPr sz="1350" b="0" i="0">
                <a:solidFill>
                  <a:srgbClr val="94A3B8"/>
                </a:solidFill>
              </a:rPr>
              <a:t>RepairForm posts customer, car, issue, status, and cost data.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4F5BD6-7DD9-4109-BE55-11369C7F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6725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267AD6-F227-4687-8175-572DEF4C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81550"/>
            <a:ext cx="361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90B10"/>
                </a:solidFill>
              </a:defRPr>
            </a:pPr>
            <a:r>
              <a:rPr sz="2100" b="1" i="0">
                <a:solidFill>
                  <a:srgbClr val="090B10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F01787-D609-4346-B033-0019C4F5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67250"/>
            <a:ext cx="6972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1F5F9"/>
                </a:solidFill>
              </a:defRPr>
            </a:pPr>
            <a:r>
              <a:rPr sz="1875" b="1" i="0">
                <a:solidFill>
                  <a:srgbClr val="F1F5F9"/>
                </a:solidFill>
              </a:rPr>
              <a:t>Operate dashboard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A3F664-1052-4E61-917E-97DEEBBA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53000"/>
            <a:ext cx="6972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94A3B8"/>
                </a:solidFill>
              </a:defRPr>
            </a:pPr>
            <a:r>
              <a:rPr sz="1350" b="0" i="0">
                <a:solidFill>
                  <a:srgbClr val="94A3B8"/>
                </a:solidFill>
              </a:rPr>
              <a:t>Staff search, filter, edit, delete, and complete repair jobs.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C069DE-A68D-4E3C-B560-D6C1FB53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388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BC47CE-65FD-4CF6-9E7E-8225451B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753100"/>
            <a:ext cx="361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90B10"/>
                </a:solidFill>
              </a:defRPr>
            </a:pPr>
            <a:r>
              <a:rPr sz="2100" b="1" i="0">
                <a:solidFill>
                  <a:srgbClr val="090B10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A25F6C-B74A-4057-AE57-2C8E027B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638800"/>
            <a:ext cx="6972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1F5F9"/>
                </a:solidFill>
              </a:defRPr>
            </a:pPr>
            <a:r>
              <a:rPr sz="1875" b="1" i="0">
                <a:solidFill>
                  <a:srgbClr val="F1F5F9"/>
                </a:solidFill>
              </a:rPr>
              <a:t>Review metrics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345226-C83F-4888-B32B-D6FE2511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924550"/>
            <a:ext cx="6972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94A3B8"/>
                </a:solidFill>
              </a:defRPr>
            </a:pPr>
            <a:r>
              <a:rPr sz="1350" b="0" i="0">
                <a:solidFill>
                  <a:srgbClr val="94A3B8"/>
                </a:solidFill>
              </a:rPr>
              <a:t>Dashboard recomputes workload and revenue statistics.</a:t>
            </a:r>
          </a:p>
        </p:txBody>
      </p:sp>
      <p:sp>
        <p:nvSpPr>
          <p:cNvPr id="23" name="customer-flow">
            <a:extLst xmlns:a="http://schemas.openxmlformats.org/drawingml/2006/main">
              <a:ext uri="{FF2B5EF4-FFF2-40B4-BE49-F238E27FC236}">
                <a16:creationId xmlns:a16="http://schemas.microsoft.com/office/drawing/2014/main" id="{AFC41B7E-1BE3-4C07-99AF-CA038528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733550"/>
            <a:ext cx="8296275" cy="7543800"/>
          </a:xfrm>
          <a:prstGeom xmlns:a="http://schemas.openxmlformats.org/drawingml/2006/main" prst="roundRect">
            <a:avLst>
              <a:gd name="adj" fmla="val 1010"/>
            </a:avLst>
          </a:prstGeom>
          <a:solidFill xmlns:a="http://schemas.openxmlformats.org/drawingml/2006/main">
            <a:srgbClr val="0F1117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AF35D4-2821-4E0D-9AB8-D4346846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00250"/>
            <a:ext cx="7734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925" b="1" i="0">
                <a:solidFill>
                  <a:srgbClr val="F1F5F9"/>
                </a:solidFill>
              </a:defRPr>
            </a:pPr>
            <a:r>
              <a:rPr sz="2925" b="1" i="0">
                <a:solidFill>
                  <a:srgbClr val="F1F5F9"/>
                </a:solidFill>
              </a:rPr>
              <a:t>Customer workflow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B80531-7997-47B0-9526-EA743471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3365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CF5593-C75E-4A51-BB25-CB9F7FA5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72415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B8D4C6-A747-49F7-B17F-14AFA511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38450"/>
            <a:ext cx="361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90B10"/>
                </a:solidFill>
              </a:defRPr>
            </a:pPr>
            <a:r>
              <a:rPr sz="2100" b="1" i="0">
                <a:solidFill>
                  <a:srgbClr val="090B10"/>
                </a:solidFill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9CF04E-ED3A-4B27-851B-FBC013D3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724150"/>
            <a:ext cx="6972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1F5F9"/>
                </a:solidFill>
              </a:defRPr>
            </a:pPr>
            <a:r>
              <a:rPr sz="1875" b="1" i="0">
                <a:solidFill>
                  <a:srgbClr val="F1F5F9"/>
                </a:solidFill>
              </a:rPr>
              <a:t>Receive code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E346C0-9491-468D-A704-6770EEEA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009900"/>
            <a:ext cx="6972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94A3B8"/>
                </a:solidFill>
              </a:defRPr>
            </a:pPr>
            <a:r>
              <a:rPr sz="1350" b="0" i="0">
                <a:solidFill>
                  <a:srgbClr val="94A3B8"/>
                </a:solidFill>
              </a:rPr>
              <a:t>Garage shares a generated RM tracking code.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95572-71EB-4EDB-885D-CC70F203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6957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D6A2D6-F9F6-4A73-ADF9-08AB916E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10000"/>
            <a:ext cx="361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90B10"/>
                </a:solidFill>
              </a:defRPr>
            </a:pPr>
            <a:r>
              <a:rPr sz="2100" b="1" i="0">
                <a:solidFill>
                  <a:srgbClr val="090B10"/>
                </a:solidFill>
              </a:rPr>
              <a:t>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A95169-660B-42DC-9F76-5B940859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695700"/>
            <a:ext cx="6972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1F5F9"/>
                </a:solidFill>
              </a:defRPr>
            </a:pPr>
            <a:r>
              <a:rPr sz="1875" b="1" i="0">
                <a:solidFill>
                  <a:srgbClr val="F1F5F9"/>
                </a:solidFill>
              </a:rPr>
              <a:t>Open portal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E3991D-90D7-4E7A-8423-45CF4AD9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981450"/>
            <a:ext cx="6972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94A3B8"/>
                </a:solidFill>
              </a:defRPr>
            </a:pPr>
            <a:r>
              <a:rPr sz="1350" b="0" i="0">
                <a:solidFill>
                  <a:srgbClr val="94A3B8"/>
                </a:solidFill>
              </a:rPr>
              <a:t>Customer switches from login page to CustomerTrack.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098C83-0F54-42A7-B1D5-91BDF1A8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66725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F18C00-B40B-44FF-B16E-F9038B89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781550"/>
            <a:ext cx="361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90B10"/>
                </a:solidFill>
              </a:defRPr>
            </a:pPr>
            <a:r>
              <a:rPr sz="2100" b="1" i="0">
                <a:solidFill>
                  <a:srgbClr val="090B10"/>
                </a:solidFill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85F116-DA2F-4C51-B809-56441241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67250"/>
            <a:ext cx="6972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1F5F9"/>
                </a:solidFill>
              </a:defRPr>
            </a:pPr>
            <a:r>
              <a:rPr sz="1875" b="1" i="0">
                <a:solidFill>
                  <a:srgbClr val="F1F5F9"/>
                </a:solidFill>
              </a:rPr>
              <a:t>Lookup repair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4FAD56-8CAF-4C6F-836A-5BE2D909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953000"/>
            <a:ext cx="6972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94A3B8"/>
                </a:solidFill>
              </a:defRPr>
            </a:pPr>
            <a:r>
              <a:rPr sz="1350" b="0" i="0">
                <a:solidFill>
                  <a:srgbClr val="94A3B8"/>
                </a:solidFill>
              </a:rPr>
              <a:t>Frontend calls the public tracking endpoint.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DDA05B-81DE-4424-B2ED-623A47D2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56388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4F38C78-BF98-4A2E-9B4A-960A1C27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753100"/>
            <a:ext cx="361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90B10"/>
                </a:solidFill>
              </a:defRPr>
            </a:pPr>
            <a:r>
              <a:rPr sz="2100" b="1" i="0">
                <a:solidFill>
                  <a:srgbClr val="090B10"/>
                </a:solidFill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695CA3-01C0-4806-A842-5C718B60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638800"/>
            <a:ext cx="6972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1F5F9"/>
                </a:solidFill>
              </a:defRPr>
            </a:pPr>
            <a:r>
              <a:rPr sz="1875" b="1" i="0">
                <a:solidFill>
                  <a:srgbClr val="F1F5F9"/>
                </a:solidFill>
              </a:rPr>
              <a:t>Read status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432F149-3701-46BC-8C8E-64EF9D68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924550"/>
            <a:ext cx="6972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94A3B8"/>
                </a:solidFill>
              </a:defRPr>
            </a:pPr>
            <a:r>
              <a:rPr sz="1350" b="0" i="0">
                <a:solidFill>
                  <a:srgbClr val="94A3B8"/>
                </a:solidFill>
              </a:rPr>
              <a:t>Progress steps summarize received, in progress, and completed states.</a:t>
            </a:r>
          </a:p>
        </p:txBody>
      </p:sp>
      <p:sp>
        <p:nvSpPr>
          <p:cNvPr id="4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85E6707-F952-4D5A-B5C2-A5CDEBB5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0"/>
            <a:ext cx="160210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rPr sz="1050" b="0" i="0">
                <a:solidFill>
                  <a:srgbClr val="64748B"/>
                </a:solidFill>
              </a:rPr>
              <a:t>Repair Manager website report</a:t>
            </a:r>
          </a:p>
        </p:txBody>
      </p:sp>
      <p:sp>
        <p:nvSpPr>
          <p:cNvPr id="4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FC446BC-7831-40DF-A095-9234D572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601200"/>
            <a:ext cx="6667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rPr sz="1050" b="0" i="0">
                <a:solidFill>
                  <a:srgbClr val="64748B"/>
                </a:solidFill>
              </a:rPr>
              <a:t>7/10</a:t>
            </a:r>
          </a:p>
        </p:txBody>
      </p:sp>
    </p:spTree>
    <p:extLst>
      <p:ext uri="{BB962C8B-B14F-4D97-AF65-F5344CB8AC3E}">
        <p14:creationId xmlns:p14="http://schemas.microsoft.com/office/powerpoint/2010/main" val="39054399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7EFB54B1-EC70-4E7F-A7B4-18B15BC7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oundRect">
            <a:avLst>
              <a:gd name="adj" fmla="val 741"/>
            </a:avLst>
          </a:prstGeom>
          <a:solidFill xmlns:a="http://schemas.openxmlformats.org/drawingml/2006/main">
            <a:srgbClr val="080A0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C6F9D3E-223E-4D39-95A6-F510AD07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6916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F1F5F9"/>
                </a:solidFill>
              </a:defRPr>
            </a:pPr>
            <a:r>
              <a:rPr sz="4050" b="1" i="0">
                <a:solidFill>
                  <a:srgbClr val="F1F5F9"/>
                </a:solidFill>
              </a:rPr>
              <a:t>Deployment and configuration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1729D42-C358-4F81-9797-94709602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6916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94A3B8"/>
                </a:solidFill>
              </a:defRPr>
            </a:pPr>
            <a:r>
              <a:rPr sz="1800" b="0" i="0">
                <a:solidFill>
                  <a:srgbClr val="94A3B8"/>
                </a:solidFill>
              </a:rPr>
              <a:t>The README defines a practical split deployment: frontend on Vercel, backend on Render, database on MongoDB Atlas.</a:t>
            </a:r>
          </a:p>
        </p:txBody>
      </p:sp>
      <p:sp>
        <p:nvSpPr>
          <p:cNvPr id="4" name="deploy-frontend">
            <a:extLst xmlns:a="http://schemas.openxmlformats.org/drawingml/2006/main">
              <a:ext uri="{FF2B5EF4-FFF2-40B4-BE49-F238E27FC236}">
                <a16:creationId xmlns:a16="http://schemas.microsoft.com/office/drawing/2014/main" id="{C2B43704-FE89-4939-BDFA-411F0D90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829627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F1117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837BB6-AA07-4ECB-B094-F027C7B5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62150"/>
            <a:ext cx="7772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75" b="1" i="0">
                <a:solidFill>
                  <a:srgbClr val="F1F5F9"/>
                </a:solidFill>
              </a:defRPr>
            </a:pPr>
            <a:r>
              <a:rPr sz="2775" b="1" i="0">
                <a:solidFill>
                  <a:srgbClr val="F1F5F9"/>
                </a:solidFill>
              </a:rPr>
              <a:t>Frontend: Vercel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4F6AA4-0642-450E-835B-91F18B6D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7772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94A3B8"/>
                </a:solidFill>
              </a:defRPr>
            </a:pPr>
            <a:r>
              <a:rPr sz="1500" b="0" i="0">
                <a:solidFill>
                  <a:srgbClr val="94A3B8"/>
                </a:solidFill>
              </a:rPr>
              <a:t>Root Directory: frontend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1FFC5-064A-4BF9-9F19-E26AD987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43200"/>
            <a:ext cx="7772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94A3B8"/>
                </a:solidFill>
              </a:defRPr>
            </a:pPr>
            <a:r>
              <a:rPr sz="1500" b="0" i="0">
                <a:solidFill>
                  <a:srgbClr val="94A3B8"/>
                </a:solidFill>
              </a:rPr>
              <a:t>Build Command: npm run build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1F7BD9-4823-4A5D-8109-8A1690E9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7772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94A3B8"/>
                </a:solidFill>
              </a:defRPr>
            </a:pPr>
            <a:r>
              <a:rPr sz="1500" b="0" i="0">
                <a:solidFill>
                  <a:srgbClr val="94A3B8"/>
                </a:solidFill>
              </a:rPr>
              <a:t>Output Directory: build</a:t>
            </a:r>
          </a:p>
        </p:txBody>
      </p:sp>
      <p:sp>
        <p:nvSpPr>
          <p:cNvPr id="9" name="deploy-backend">
            <a:extLst xmlns:a="http://schemas.openxmlformats.org/drawingml/2006/main">
              <a:ext uri="{FF2B5EF4-FFF2-40B4-BE49-F238E27FC236}">
                <a16:creationId xmlns:a16="http://schemas.microsoft.com/office/drawing/2014/main" id="{79C84DBF-1501-4CD5-A059-88BDCE6D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733550"/>
            <a:ext cx="829627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F1117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52645F-8869-4D55-8717-4F696B0C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62150"/>
            <a:ext cx="7772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75" b="1" i="0">
                <a:solidFill>
                  <a:srgbClr val="F1F5F9"/>
                </a:solidFill>
              </a:defRPr>
            </a:pPr>
            <a:r>
              <a:rPr sz="2775" b="1" i="0">
                <a:solidFill>
                  <a:srgbClr val="F1F5F9"/>
                </a:solidFill>
              </a:rPr>
              <a:t>Backend: Render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AB1629-79E9-4118-9EF1-4B89BEE2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38400"/>
            <a:ext cx="7772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94A3B8"/>
                </a:solidFill>
              </a:defRPr>
            </a:pPr>
            <a:r>
              <a:rPr sz="1500" b="0" i="0">
                <a:solidFill>
                  <a:srgbClr val="94A3B8"/>
                </a:solidFill>
              </a:rPr>
              <a:t>Root Directory: backend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E9090-8E17-4560-88AD-36510C82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43200"/>
            <a:ext cx="7772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94A3B8"/>
                </a:solidFill>
              </a:defRPr>
            </a:pPr>
            <a:r>
              <a:rPr sz="1500" b="0" i="0">
                <a:solidFill>
                  <a:srgbClr val="94A3B8"/>
                </a:solidFill>
              </a:rPr>
              <a:t>Build Command: npm install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FCE912-283F-4255-AF85-B9F714D0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048000"/>
            <a:ext cx="7772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94A3B8"/>
                </a:solidFill>
              </a:defRPr>
            </a:pPr>
            <a:r>
              <a:rPr sz="1500" b="0" i="0">
                <a:solidFill>
                  <a:srgbClr val="94A3B8"/>
                </a:solidFill>
              </a:rPr>
              <a:t>Start Command: npm start</a:t>
            </a:r>
          </a:p>
        </p:txBody>
      </p:sp>
      <p:sp>
        <p:nvSpPr>
          <p:cNvPr id="14" name="env-panel">
            <a:extLst xmlns:a="http://schemas.openxmlformats.org/drawingml/2006/main">
              <a:ext uri="{FF2B5EF4-FFF2-40B4-BE49-F238E27FC236}">
                <a16:creationId xmlns:a16="http://schemas.microsoft.com/office/drawing/2014/main" id="{4482CA29-A0C1-4ED2-8652-CDF2C7A9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16916400" cy="5295900"/>
          </a:xfrm>
          <a:prstGeom xmlns:a="http://schemas.openxmlformats.org/drawingml/2006/main" prst="roundRect">
            <a:avLst>
              <a:gd name="adj" fmla="val 1439"/>
            </a:avLst>
          </a:prstGeom>
          <a:solidFill xmlns:a="http://schemas.openxmlformats.org/drawingml/2006/main">
            <a:srgbClr val="0F1117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9104E2-8679-4B29-8DC1-A536078E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1638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75" b="1" i="0">
                <a:solidFill>
                  <a:srgbClr val="F1F5F9"/>
                </a:solidFill>
              </a:defRPr>
            </a:pPr>
            <a:r>
              <a:rPr sz="2775" b="1" i="0">
                <a:solidFill>
                  <a:srgbClr val="F1F5F9"/>
                </a:solidFill>
              </a:rPr>
              <a:t>Environment variables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AB3207-D335-4713-9EB3-DAA53AF5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86300"/>
            <a:ext cx="2190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0B981"/>
                </a:solidFill>
              </a:defRPr>
            </a:pPr>
            <a:r>
              <a:rPr sz="1350" b="0" i="0">
                <a:solidFill>
                  <a:srgbClr val="10B981"/>
                </a:solidFill>
              </a:rPr>
              <a:t>MONGO_URI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65AB9A-E621-419B-B71C-74983E6B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686300"/>
            <a:ext cx="14039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94A3B8"/>
                </a:solidFill>
              </a:defRPr>
            </a:pPr>
            <a:r>
              <a:rPr sz="1500" b="0" i="0">
                <a:solidFill>
                  <a:srgbClr val="94A3B8"/>
                </a:solidFill>
              </a:rPr>
              <a:t>MongoDB connection string for local or Atlas database.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6B2E13-DE71-47E2-8BAC-4614254E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14950"/>
            <a:ext cx="2190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59E0B"/>
                </a:solidFill>
              </a:defRPr>
            </a:pPr>
            <a:r>
              <a:rPr sz="1350" b="0" i="0">
                <a:solidFill>
                  <a:srgbClr val="F59E0B"/>
                </a:solidFill>
              </a:rPr>
              <a:t>JWT_SECRET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73D868-4757-4149-907C-DB69B653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314950"/>
            <a:ext cx="14039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94A3B8"/>
                </a:solidFill>
              </a:defRPr>
            </a:pPr>
            <a:r>
              <a:rPr sz="1500" b="0" i="0">
                <a:solidFill>
                  <a:srgbClr val="94A3B8"/>
                </a:solidFill>
              </a:rPr>
              <a:t>Signing secret for 7-day staff auth tokens.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439C5C-D3C3-4527-804F-B1E5C1F5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43600"/>
            <a:ext cx="2190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B82F6"/>
                </a:solidFill>
              </a:defRPr>
            </a:pPr>
            <a:r>
              <a:rPr sz="1350" b="0" i="0">
                <a:solidFill>
                  <a:srgbClr val="3B82F6"/>
                </a:solidFill>
              </a:rPr>
              <a:t>CLIENT_URLS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483517-1B1E-41C1-B123-26E7067F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943600"/>
            <a:ext cx="14039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94A3B8"/>
                </a:solidFill>
              </a:defRPr>
            </a:pPr>
            <a:r>
              <a:rPr sz="1500" b="0" i="0">
                <a:solidFill>
                  <a:srgbClr val="94A3B8"/>
                </a:solidFill>
              </a:rPr>
              <a:t>Allowed frontend origins for CORS.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F53181-E0BB-44C9-9596-FCF4D69F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572250"/>
            <a:ext cx="2190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A855F7"/>
                </a:solidFill>
              </a:defRPr>
            </a:pPr>
            <a:r>
              <a:rPr sz="1350" b="0" i="0">
                <a:solidFill>
                  <a:srgbClr val="A855F7"/>
                </a:solidFill>
              </a:rPr>
              <a:t>REACT_APP_API_URL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BCB7B4-3B80-4EE6-8024-F4F1E32F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6572250"/>
            <a:ext cx="14039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94A3B8"/>
                </a:solidFill>
              </a:defRPr>
            </a:pPr>
            <a:r>
              <a:rPr sz="1500" b="0" i="0">
                <a:solidFill>
                  <a:srgbClr val="94A3B8"/>
                </a:solidFill>
              </a:rPr>
              <a:t>Frontend API base URL such as the Render /api endpoint.</a:t>
            </a:r>
          </a:p>
        </p:txBody>
      </p:sp>
      <p:sp>
        <p:nvSpPr>
          <p:cNvPr id="24" name="deployment-rec">
            <a:extLst xmlns:a="http://schemas.openxmlformats.org/drawingml/2006/main">
              <a:ext uri="{FF2B5EF4-FFF2-40B4-BE49-F238E27FC236}">
                <a16:creationId xmlns:a16="http://schemas.microsoft.com/office/drawing/2014/main" id="{B8A3048A-5BCA-4E73-9FAD-74C2FEE1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00900"/>
            <a:ext cx="1638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F1F5F9"/>
                </a:solidFill>
              </a:defRPr>
            </a:pPr>
            <a:r>
              <a:rPr sz="1800" b="0" i="0">
                <a:solidFill>
                  <a:srgbClr val="F1F5F9"/>
                </a:solidFill>
              </a:rPr>
              <a:t>Production recommendation: remove development fallbacks, restrict database network access, and keep secrets outside source control.</a:t>
            </a:r>
          </a:p>
        </p:txBody>
      </p:sp>
      <p:sp>
        <p:nvSpPr>
          <p:cNvPr id="2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9C21B9B-9E58-40C5-AF84-BFF64D40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0"/>
            <a:ext cx="160210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rPr sz="1050" b="0" i="0">
                <a:solidFill>
                  <a:srgbClr val="64748B"/>
                </a:solidFill>
              </a:rPr>
              <a:t>Repair Manager website report</a:t>
            </a:r>
          </a:p>
        </p:txBody>
      </p:sp>
      <p:sp>
        <p:nvSpPr>
          <p:cNvPr id="2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36B0BC8-2AEF-413F-BB14-316F076F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601200"/>
            <a:ext cx="6667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rPr sz="1050" b="0" i="0">
                <a:solidFill>
                  <a:srgbClr val="64748B"/>
                </a:solidFill>
              </a:rPr>
              <a:t>8/10</a:t>
            </a:r>
          </a:p>
        </p:txBody>
      </p:sp>
    </p:spTree>
    <p:extLst>
      <p:ext uri="{BB962C8B-B14F-4D97-AF65-F5344CB8AC3E}">
        <p14:creationId xmlns:p14="http://schemas.microsoft.com/office/powerpoint/2010/main" val="83335543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D3E78E69-96AB-4077-B26F-48618F83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oundRect">
            <a:avLst>
              <a:gd name="adj" fmla="val 741"/>
            </a:avLst>
          </a:prstGeom>
          <a:solidFill xmlns:a="http://schemas.openxmlformats.org/drawingml/2006/main">
            <a:srgbClr val="080A0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3405E0-9691-42FD-AAAC-34603D79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6916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F1F5F9"/>
                </a:solidFill>
              </a:defRPr>
            </a:pPr>
            <a:r>
              <a:rPr sz="4050" b="1" i="0">
                <a:solidFill>
                  <a:srgbClr val="F1F5F9"/>
                </a:solidFill>
              </a:rPr>
              <a:t>Quality, risks, and next improvements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4CF5749-4EE5-4B9E-8511-DE2A6DC1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6916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94A3B8"/>
                </a:solidFill>
              </a:defRPr>
            </a:pPr>
            <a:r>
              <a:rPr sz="1800" b="0" i="0">
                <a:solidFill>
                  <a:srgbClr val="94A3B8"/>
                </a:solidFill>
              </a:rPr>
              <a:t>The website is a strong functional prototype; the next step is production hardening and test coverage.</a:t>
            </a:r>
          </a:p>
        </p:txBody>
      </p:sp>
      <p:sp>
        <p:nvSpPr>
          <p:cNvPr id="4" name="quality-strengths">
            <a:extLst xmlns:a="http://schemas.openxmlformats.org/drawingml/2006/main">
              <a:ext uri="{FF2B5EF4-FFF2-40B4-BE49-F238E27FC236}">
                <a16:creationId xmlns:a16="http://schemas.microsoft.com/office/drawing/2014/main" id="{45B332E4-0BFE-434C-AEA5-7A3045C5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5473700" cy="7543800"/>
          </a:xfrm>
          <a:prstGeom xmlns:a="http://schemas.openxmlformats.org/drawingml/2006/main" prst="roundRect">
            <a:avLst>
              <a:gd name="adj" fmla="val 1392"/>
            </a:avLst>
          </a:prstGeom>
          <a:solidFill xmlns:a="http://schemas.openxmlformats.org/drawingml/2006/main">
            <a:srgbClr val="0F1117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4EF16-5731-404C-8FF1-712F7601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DE05C-48A0-4984-A06E-A58B2794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972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1F5F9"/>
                </a:solidFill>
              </a:defRPr>
            </a:pPr>
            <a:r>
              <a:rPr sz="2700" b="1" i="0">
                <a:solidFill>
                  <a:srgbClr val="F1F5F9"/>
                </a:solidFill>
              </a:rPr>
              <a:t>Strengths</a:t>
            </a:r>
          </a:p>
        </p:txBody>
      </p:sp>
      <p:sp>
        <p:nvSpPr>
          <p:cNvPr id="7" name="quality-strengths-item-1">
            <a:extLst xmlns:a="http://schemas.openxmlformats.org/drawingml/2006/main">
              <a:ext uri="{FF2B5EF4-FFF2-40B4-BE49-F238E27FC236}">
                <a16:creationId xmlns:a16="http://schemas.microsoft.com/office/drawing/2014/main" id="{0748508D-4420-4077-9AFC-C2AE7917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289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94A3B8"/>
                </a:solidFill>
              </a:defRPr>
            </a:pPr>
            <a:r>
              <a:rPr sz="1575" b="0" i="0">
                <a:solidFill>
                  <a:srgbClr val="94A3B8"/>
                </a:solidFill>
              </a:rPr>
              <a:t>1. Clear MERN separation</a:t>
            </a:r>
          </a:p>
        </p:txBody>
      </p:sp>
      <p:sp>
        <p:nvSpPr>
          <p:cNvPr id="8" name="quality-strengths-item-2">
            <a:extLst xmlns:a="http://schemas.openxmlformats.org/drawingml/2006/main">
              <a:ext uri="{FF2B5EF4-FFF2-40B4-BE49-F238E27FC236}">
                <a16:creationId xmlns:a16="http://schemas.microsoft.com/office/drawing/2014/main" id="{A9DE7309-E1DE-40F2-859F-9C1414F9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94A3B8"/>
                </a:solidFill>
              </a:defRPr>
            </a:pPr>
            <a:r>
              <a:rPr sz="1575" b="0" i="0">
                <a:solidFill>
                  <a:srgbClr val="94A3B8"/>
                </a:solidFill>
              </a:rPr>
              <a:t>2. User-scoped repair data</a:t>
            </a:r>
          </a:p>
        </p:txBody>
      </p:sp>
      <p:sp>
        <p:nvSpPr>
          <p:cNvPr id="9" name="quality-strengths-item-3">
            <a:extLst xmlns:a="http://schemas.openxmlformats.org/drawingml/2006/main">
              <a:ext uri="{FF2B5EF4-FFF2-40B4-BE49-F238E27FC236}">
                <a16:creationId xmlns:a16="http://schemas.microsoft.com/office/drawing/2014/main" id="{5FEAB256-0605-4EF5-86EE-A6EB3D74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9565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94A3B8"/>
                </a:solidFill>
              </a:defRPr>
            </a:pPr>
            <a:r>
              <a:rPr sz="1575" b="0" i="0">
                <a:solidFill>
                  <a:srgbClr val="94A3B8"/>
                </a:solidFill>
              </a:rPr>
              <a:t>3. Public tracking without login</a:t>
            </a:r>
          </a:p>
        </p:txBody>
      </p:sp>
      <p:sp>
        <p:nvSpPr>
          <p:cNvPr id="10" name="quality-strengths-item-4">
            <a:extLst xmlns:a="http://schemas.openxmlformats.org/drawingml/2006/main">
              <a:ext uri="{FF2B5EF4-FFF2-40B4-BE49-F238E27FC236}">
                <a16:creationId xmlns:a16="http://schemas.microsoft.com/office/drawing/2014/main" id="{18236F6F-283A-439F-87B4-BC707AD3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94A3B8"/>
                </a:solidFill>
              </a:defRPr>
            </a:pPr>
            <a:r>
              <a:rPr sz="1575" b="0" i="0">
                <a:solidFill>
                  <a:srgbClr val="94A3B8"/>
                </a:solidFill>
              </a:rPr>
              <a:t>4. Practical dashboard KPIs</a:t>
            </a:r>
          </a:p>
        </p:txBody>
      </p:sp>
      <p:sp>
        <p:nvSpPr>
          <p:cNvPr id="11" name="quality-strengths-item-5">
            <a:extLst xmlns:a="http://schemas.openxmlformats.org/drawingml/2006/main">
              <a:ext uri="{FF2B5EF4-FFF2-40B4-BE49-F238E27FC236}">
                <a16:creationId xmlns:a16="http://schemas.microsoft.com/office/drawing/2014/main" id="{FDCA9A2F-36C6-4F31-9895-17440C74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624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94A3B8"/>
                </a:solidFill>
              </a:defRPr>
            </a:pPr>
            <a:r>
              <a:rPr sz="1575" b="0" i="0">
                <a:solidFill>
                  <a:srgbClr val="94A3B8"/>
                </a:solidFill>
              </a:rPr>
              <a:t>5. Readable route organization</a:t>
            </a:r>
          </a:p>
        </p:txBody>
      </p:sp>
      <p:sp>
        <p:nvSpPr>
          <p:cNvPr id="12" name="quality-risks">
            <a:extLst xmlns:a="http://schemas.openxmlformats.org/drawingml/2006/main">
              <a:ext uri="{FF2B5EF4-FFF2-40B4-BE49-F238E27FC236}">
                <a16:creationId xmlns:a16="http://schemas.microsoft.com/office/drawing/2014/main" id="{BE65A321-6B6B-4146-961C-DFEF088D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150" y="1733550"/>
            <a:ext cx="5473700" cy="7543800"/>
          </a:xfrm>
          <a:prstGeom xmlns:a="http://schemas.openxmlformats.org/drawingml/2006/main" prst="roundRect">
            <a:avLst>
              <a:gd name="adj" fmla="val 1392"/>
            </a:avLst>
          </a:prstGeom>
          <a:solidFill xmlns:a="http://schemas.openxmlformats.org/drawingml/2006/main">
            <a:srgbClr val="0F1117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BF2BD7-29B9-4C60-AAB0-3D06F5B3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96215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771052-A7B6-451E-9D43-FBBA56B2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52650"/>
            <a:ext cx="4972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1F5F9"/>
                </a:solidFill>
              </a:defRPr>
            </a:pPr>
            <a:r>
              <a:rPr sz="2700" b="1" i="0">
                <a:solidFill>
                  <a:srgbClr val="F1F5F9"/>
                </a:solidFill>
              </a:rPr>
              <a:t>Risks to address</a:t>
            </a:r>
          </a:p>
        </p:txBody>
      </p:sp>
      <p:sp>
        <p:nvSpPr>
          <p:cNvPr id="15" name="quality-risks-item-1">
            <a:extLst xmlns:a="http://schemas.openxmlformats.org/drawingml/2006/main">
              <a:ext uri="{FF2B5EF4-FFF2-40B4-BE49-F238E27FC236}">
                <a16:creationId xmlns:a16="http://schemas.microsoft.com/office/drawing/2014/main" id="{8A47BF34-FEDF-4138-8CAC-8B6D42EC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289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94A3B8"/>
                </a:solidFill>
              </a:defRPr>
            </a:pPr>
            <a:r>
              <a:rPr sz="1575" b="0" i="0">
                <a:solidFill>
                  <a:srgbClr val="94A3B8"/>
                </a:solidFill>
              </a:rPr>
              <a:t>1. No automated tests yet</a:t>
            </a:r>
          </a:p>
        </p:txBody>
      </p:sp>
      <p:sp>
        <p:nvSpPr>
          <p:cNvPr id="16" name="quality-risks-item-2">
            <a:extLst xmlns:a="http://schemas.openxmlformats.org/drawingml/2006/main">
              <a:ext uri="{FF2B5EF4-FFF2-40B4-BE49-F238E27FC236}">
                <a16:creationId xmlns:a16="http://schemas.microsoft.com/office/drawing/2014/main" id="{A1D96240-7B41-46C2-8731-354B426F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5275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94A3B8"/>
                </a:solidFill>
              </a:defRPr>
            </a:pPr>
            <a:r>
              <a:rPr sz="1575" b="0" i="0">
                <a:solidFill>
                  <a:srgbClr val="94A3B8"/>
                </a:solidFill>
              </a:rPr>
              <a:t>2. Development JWT fallback</a:t>
            </a:r>
          </a:p>
        </p:txBody>
      </p:sp>
      <p:sp>
        <p:nvSpPr>
          <p:cNvPr id="17" name="quality-risks-item-3">
            <a:extLst xmlns:a="http://schemas.openxmlformats.org/drawingml/2006/main">
              <a:ext uri="{FF2B5EF4-FFF2-40B4-BE49-F238E27FC236}">
                <a16:creationId xmlns:a16="http://schemas.microsoft.com/office/drawing/2014/main" id="{E19407EF-5F13-42BC-AB0F-0DFE70A9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9565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94A3B8"/>
                </a:solidFill>
              </a:defRPr>
            </a:pPr>
            <a:r>
              <a:rPr sz="1575" b="0" i="0">
                <a:solidFill>
                  <a:srgbClr val="94A3B8"/>
                </a:solidFill>
              </a:rPr>
              <a:t>3. Encoding artifacts in UI text</a:t>
            </a:r>
          </a:p>
        </p:txBody>
      </p:sp>
      <p:sp>
        <p:nvSpPr>
          <p:cNvPr id="18" name="quality-risks-item-4">
            <a:extLst xmlns:a="http://schemas.openxmlformats.org/drawingml/2006/main">
              <a:ext uri="{FF2B5EF4-FFF2-40B4-BE49-F238E27FC236}">
                <a16:creationId xmlns:a16="http://schemas.microsoft.com/office/drawing/2014/main" id="{9773851B-25BB-42D9-BCD2-7580A30A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195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94A3B8"/>
                </a:solidFill>
              </a:defRPr>
            </a:pPr>
            <a:r>
              <a:rPr sz="1575" b="0" i="0">
                <a:solidFill>
                  <a:srgbClr val="94A3B8"/>
                </a:solidFill>
              </a:rPr>
              <a:t>4. No rate limiting on public lookup</a:t>
            </a:r>
          </a:p>
        </p:txBody>
      </p:sp>
      <p:sp>
        <p:nvSpPr>
          <p:cNvPr id="19" name="quality-risks-item-5">
            <a:extLst xmlns:a="http://schemas.openxmlformats.org/drawingml/2006/main">
              <a:ext uri="{FF2B5EF4-FFF2-40B4-BE49-F238E27FC236}">
                <a16:creationId xmlns:a16="http://schemas.microsoft.com/office/drawing/2014/main" id="{3A277D25-C0FF-46D7-AFCD-64B0C59D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624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94A3B8"/>
                </a:solidFill>
              </a:defRPr>
            </a:pPr>
            <a:r>
              <a:rPr sz="1575" b="0" i="0">
                <a:solidFill>
                  <a:srgbClr val="94A3B8"/>
                </a:solidFill>
              </a:rPr>
              <a:t>5. No role-based authorization</a:t>
            </a:r>
          </a:p>
        </p:txBody>
      </p:sp>
      <p:sp>
        <p:nvSpPr>
          <p:cNvPr id="20" name="quality-roadmap">
            <a:extLst xmlns:a="http://schemas.openxmlformats.org/drawingml/2006/main">
              <a:ext uri="{FF2B5EF4-FFF2-40B4-BE49-F238E27FC236}">
                <a16:creationId xmlns:a16="http://schemas.microsoft.com/office/drawing/2014/main" id="{C3D302E0-521A-41F2-8F67-3BD27035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8500" y="1733550"/>
            <a:ext cx="5473700" cy="7543800"/>
          </a:xfrm>
          <a:prstGeom xmlns:a="http://schemas.openxmlformats.org/drawingml/2006/main" prst="roundRect">
            <a:avLst>
              <a:gd name="adj" fmla="val 1392"/>
            </a:avLst>
          </a:prstGeom>
          <a:solidFill xmlns:a="http://schemas.openxmlformats.org/drawingml/2006/main">
            <a:srgbClr val="0F1117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EB6771-693D-4426-90AA-43E7CA24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196215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A19B30-0E0E-48C1-B8C5-55A06FBC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152650"/>
            <a:ext cx="4972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1F5F9"/>
                </a:solidFill>
              </a:defRPr>
            </a:pPr>
            <a:r>
              <a:rPr sz="2700" b="1" i="0">
                <a:solidFill>
                  <a:srgbClr val="F1F5F9"/>
                </a:solidFill>
              </a:rPr>
              <a:t>Roadmap</a:t>
            </a:r>
          </a:p>
        </p:txBody>
      </p:sp>
      <p:sp>
        <p:nvSpPr>
          <p:cNvPr id="23" name="quality-roadmap-item-1">
            <a:extLst xmlns:a="http://schemas.openxmlformats.org/drawingml/2006/main">
              <a:ext uri="{FF2B5EF4-FFF2-40B4-BE49-F238E27FC236}">
                <a16:creationId xmlns:a16="http://schemas.microsoft.com/office/drawing/2014/main" id="{4B0D5CF2-6ED3-4F5E-B02E-DC0DA803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6289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94A3B8"/>
                </a:solidFill>
              </a:defRPr>
            </a:pPr>
            <a:r>
              <a:rPr sz="1575" b="0" i="0">
                <a:solidFill>
                  <a:srgbClr val="94A3B8"/>
                </a:solidFill>
              </a:rPr>
              <a:t>1. API validation library</a:t>
            </a:r>
          </a:p>
        </p:txBody>
      </p:sp>
      <p:sp>
        <p:nvSpPr>
          <p:cNvPr id="24" name="quality-roadmap-item-2">
            <a:extLst xmlns:a="http://schemas.openxmlformats.org/drawingml/2006/main">
              <a:ext uri="{FF2B5EF4-FFF2-40B4-BE49-F238E27FC236}">
                <a16:creationId xmlns:a16="http://schemas.microsoft.com/office/drawing/2014/main" id="{95C634B5-4CF0-492D-8EDA-9532CDB8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95275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94A3B8"/>
                </a:solidFill>
              </a:defRPr>
            </a:pPr>
            <a:r>
              <a:rPr sz="1575" b="0" i="0">
                <a:solidFill>
                  <a:srgbClr val="94A3B8"/>
                </a:solidFill>
              </a:rPr>
              <a:t>2. Unit and integration tests</a:t>
            </a:r>
          </a:p>
        </p:txBody>
      </p:sp>
      <p:sp>
        <p:nvSpPr>
          <p:cNvPr id="25" name="quality-roadmap-item-3">
            <a:extLst xmlns:a="http://schemas.openxmlformats.org/drawingml/2006/main">
              <a:ext uri="{FF2B5EF4-FFF2-40B4-BE49-F238E27FC236}">
                <a16:creationId xmlns:a16="http://schemas.microsoft.com/office/drawing/2014/main" id="{FCFC8632-0D2A-4662-8B54-1EFAF7E0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29565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94A3B8"/>
                </a:solidFill>
              </a:defRPr>
            </a:pPr>
            <a:r>
              <a:rPr sz="1575" b="0" i="0">
                <a:solidFill>
                  <a:srgbClr val="94A3B8"/>
                </a:solidFill>
              </a:rPr>
              <a:t>3. Repair status timeline</a:t>
            </a:r>
          </a:p>
        </p:txBody>
      </p:sp>
      <p:sp>
        <p:nvSpPr>
          <p:cNvPr id="26" name="quality-roadmap-item-4">
            <a:extLst xmlns:a="http://schemas.openxmlformats.org/drawingml/2006/main">
              <a:ext uri="{FF2B5EF4-FFF2-40B4-BE49-F238E27FC236}">
                <a16:creationId xmlns:a16="http://schemas.microsoft.com/office/drawing/2014/main" id="{587610C4-6D63-4783-863D-5422C10F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6195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94A3B8"/>
                </a:solidFill>
              </a:defRPr>
            </a:pPr>
            <a:r>
              <a:rPr sz="1575" b="0" i="0">
                <a:solidFill>
                  <a:srgbClr val="94A3B8"/>
                </a:solidFill>
              </a:rPr>
              <a:t>4. Invoices and printable job cards</a:t>
            </a:r>
          </a:p>
        </p:txBody>
      </p:sp>
      <p:sp>
        <p:nvSpPr>
          <p:cNvPr id="27" name="quality-roadmap-item-5">
            <a:extLst xmlns:a="http://schemas.openxmlformats.org/drawingml/2006/main">
              <a:ext uri="{FF2B5EF4-FFF2-40B4-BE49-F238E27FC236}">
                <a16:creationId xmlns:a16="http://schemas.microsoft.com/office/drawing/2014/main" id="{71638A02-4CA9-4AD4-A77B-C5CAB53D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9624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94A3B8"/>
                </a:solidFill>
              </a:defRPr>
            </a:pPr>
            <a:r>
              <a:rPr sz="1575" b="0" i="0">
                <a:solidFill>
                  <a:srgbClr val="94A3B8"/>
                </a:solidFill>
              </a:rPr>
              <a:t>5. Email or SMS customer updates</a:t>
            </a:r>
          </a:p>
        </p:txBody>
      </p:sp>
      <p:sp>
        <p:nvSpPr>
          <p:cNvPr id="2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81919D1-A51C-4170-BED2-C2EA0253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0"/>
            <a:ext cx="160210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rPr sz="1050" b="0" i="0">
                <a:solidFill>
                  <a:srgbClr val="64748B"/>
                </a:solidFill>
              </a:rPr>
              <a:t>Repair Manager website report</a:t>
            </a:r>
          </a:p>
        </p:txBody>
      </p:sp>
      <p:sp>
        <p:nvSpPr>
          <p:cNvPr id="2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5D9CC31-6DDD-4242-9B0E-A58B9903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601200"/>
            <a:ext cx="6667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rPr sz="1050" b="0" i="0">
                <a:solidFill>
                  <a:srgbClr val="64748B"/>
                </a:solidFill>
              </a:rPr>
              <a:t>9/10</a:t>
            </a:r>
          </a:p>
        </p:txBody>
      </p:sp>
    </p:spTree>
    <p:extLst>
      <p:ext uri="{BB962C8B-B14F-4D97-AF65-F5344CB8AC3E}">
        <p14:creationId xmlns:p14="http://schemas.microsoft.com/office/powerpoint/2010/main" val="58475290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89A9FFD9-FC3A-4707-B41A-6F1882A2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oundRect">
            <a:avLst>
              <a:gd name="adj" fmla="val 741"/>
            </a:avLst>
          </a:prstGeom>
          <a:solidFill xmlns:a="http://schemas.openxmlformats.org/drawingml/2006/main">
            <a:srgbClr val="080A0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51C4EC6-E49D-45AC-BAC2-02AFAF84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6916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F1F5F9"/>
                </a:solidFill>
              </a:defRPr>
            </a:pPr>
            <a:r>
              <a:rPr sz="4050" b="1" i="0">
                <a:solidFill>
                  <a:srgbClr val="F1F5F9"/>
                </a:solidFill>
              </a:rPr>
              <a:t>Conclusion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768B0DB-F370-4330-BF13-42753A8D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6916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94A3B8"/>
                </a:solidFill>
              </a:defRPr>
            </a:pPr>
            <a:r>
              <a:rPr sz="1800" b="0" i="0">
                <a:solidFill>
                  <a:srgbClr val="94A3B8"/>
                </a:solidFill>
              </a:rPr>
              <a:t>Repair Manager demonstrates a complete full-stack garage management website with real operational workflows.</a:t>
            </a:r>
          </a:p>
        </p:txBody>
      </p:sp>
      <p:sp>
        <p:nvSpPr>
          <p:cNvPr id="4" name="conclusion-main">
            <a:extLst xmlns:a="http://schemas.openxmlformats.org/drawingml/2006/main">
              <a:ext uri="{FF2B5EF4-FFF2-40B4-BE49-F238E27FC236}">
                <a16:creationId xmlns:a16="http://schemas.microsoft.com/office/drawing/2014/main" id="{762F983A-964D-4445-BAFC-FB37D9AF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7239000" cy="188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950" b="1" i="0">
                <a:solidFill>
                  <a:srgbClr val="F1F5F9"/>
                </a:solidFill>
              </a:defRPr>
            </a:pPr>
            <a:r>
              <a:rPr sz="4950" b="1" i="0">
                <a:solidFill>
                  <a:srgbClr val="F1F5F9"/>
                </a:solidFill>
              </a:rPr>
              <a:t>Ready for a project demo; ready for hardening before production.</a:t>
            </a:r>
          </a:p>
        </p:txBody>
      </p:sp>
      <p:sp>
        <p:nvSpPr>
          <p:cNvPr id="5" name="conclusion-rule">
            <a:extLst xmlns:a="http://schemas.openxmlformats.org/drawingml/2006/main">
              <a:ext uri="{FF2B5EF4-FFF2-40B4-BE49-F238E27FC236}">
                <a16:creationId xmlns:a16="http://schemas.microsoft.com/office/drawing/2014/main" id="{FDB82029-5D74-4D45-9B6A-34F18815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6" name="conclusion-support">
            <a:extLst xmlns:a="http://schemas.openxmlformats.org/drawingml/2006/main">
              <a:ext uri="{FF2B5EF4-FFF2-40B4-BE49-F238E27FC236}">
                <a16:creationId xmlns:a16="http://schemas.microsoft.com/office/drawing/2014/main" id="{6EC3F067-D587-4068-BA8D-9FC0FA15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7239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94A3B8"/>
                </a:solidFill>
              </a:defRPr>
            </a:pPr>
            <a:r>
              <a:rPr sz="2025" b="0" i="0">
                <a:solidFill>
                  <a:srgbClr val="94A3B8"/>
                </a:solidFill>
              </a:rPr>
              <a:t>The application shows frontend design, REST API engineering, database modeling, JWT authentication, and deployment awareness in one coherent website.</a:t>
            </a:r>
          </a:p>
        </p:txBody>
      </p:sp>
      <p:sp>
        <p:nvSpPr>
          <p:cNvPr id="7" name="proof-stack">
            <a:extLst xmlns:a="http://schemas.openxmlformats.org/drawingml/2006/main">
              <a:ext uri="{FF2B5EF4-FFF2-40B4-BE49-F238E27FC236}">
                <a16:creationId xmlns:a16="http://schemas.microsoft.com/office/drawing/2014/main" id="{AF093FE3-BC26-4834-8DEF-759F1884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33550"/>
            <a:ext cx="92964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59E0B">
              <a:alpha val="16000"/>
            </a:srgbClr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3BF8CA-554B-43BB-B757-EEDCA144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62150"/>
            <a:ext cx="8801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F1F5F9"/>
                </a:solidFill>
              </a:defRPr>
            </a:pPr>
            <a:r>
              <a:rPr sz="1875" b="0" i="0">
                <a:solidFill>
                  <a:srgbClr val="F1F5F9"/>
                </a:solidFill>
              </a:rPr>
              <a:t>Frontend: React dashboard, customer portal, forms, filters, status badges, and computed KPIs.</a:t>
            </a:r>
          </a:p>
        </p:txBody>
      </p:sp>
      <p:sp>
        <p:nvSpPr>
          <p:cNvPr id="9" name="proof-api">
            <a:extLst xmlns:a="http://schemas.openxmlformats.org/drawingml/2006/main">
              <a:ext uri="{FF2B5EF4-FFF2-40B4-BE49-F238E27FC236}">
                <a16:creationId xmlns:a16="http://schemas.microsoft.com/office/drawing/2014/main" id="{323A1595-0FDD-4E66-A067-957439E8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62300"/>
            <a:ext cx="92964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3B82F6">
              <a:alpha val="16000"/>
            </a:srgbClr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42CE7B-D344-457C-83DC-76D13396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90900"/>
            <a:ext cx="8801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F1F5F9"/>
                </a:solidFill>
              </a:defRPr>
            </a:pPr>
            <a:r>
              <a:rPr sz="1875" b="0" i="0">
                <a:solidFill>
                  <a:srgbClr val="F1F5F9"/>
                </a:solidFill>
              </a:rPr>
              <a:t>Backend: Express routes, CORS rules, health check, JWT auth, and protected repair APIs.</a:t>
            </a:r>
          </a:p>
        </p:txBody>
      </p:sp>
      <p:sp>
        <p:nvSpPr>
          <p:cNvPr id="11" name="proof-data">
            <a:extLst xmlns:a="http://schemas.openxmlformats.org/drawingml/2006/main">
              <a:ext uri="{FF2B5EF4-FFF2-40B4-BE49-F238E27FC236}">
                <a16:creationId xmlns:a16="http://schemas.microsoft.com/office/drawing/2014/main" id="{94C08AF0-35BC-470E-BE53-79B7DFCA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91050"/>
            <a:ext cx="92964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B981">
              <a:alpha val="16000"/>
            </a:srgbClr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11A526-B643-44BE-ACD7-9B20DCC0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19650"/>
            <a:ext cx="8801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F1F5F9"/>
                </a:solidFill>
              </a:defRPr>
            </a:pPr>
            <a:r>
              <a:rPr sz="1875" b="0" i="0">
                <a:solidFill>
                  <a:srgbClr val="F1F5F9"/>
                </a:solidFill>
              </a:rPr>
              <a:t>Database: User and RepairJob models with ownership, tracking codes, statuses, costs, and dates.</a:t>
            </a:r>
          </a:p>
        </p:txBody>
      </p:sp>
      <p:sp>
        <p:nvSpPr>
          <p:cNvPr id="13" name="proof-next">
            <a:extLst xmlns:a="http://schemas.openxmlformats.org/drawingml/2006/main">
              <a:ext uri="{FF2B5EF4-FFF2-40B4-BE49-F238E27FC236}">
                <a16:creationId xmlns:a16="http://schemas.microsoft.com/office/drawing/2014/main" id="{9D5DDF6C-F9FE-4455-BF3D-EE9BC73A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6019800"/>
            <a:ext cx="92964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A855F7">
              <a:alpha val="14000"/>
            </a:srgbClr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AE9C00-E851-4684-83B6-41F58DBF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6248400"/>
            <a:ext cx="8801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F1F5F9"/>
                </a:solidFill>
              </a:defRPr>
            </a:pPr>
            <a:r>
              <a:rPr sz="1875" b="0" i="0">
                <a:solidFill>
                  <a:srgbClr val="F1F5F9"/>
                </a:solidFill>
              </a:rPr>
              <a:t>Next: tests, validation, rate limiting, production secret policy, roles, and repair history.</a:t>
            </a:r>
          </a:p>
        </p:txBody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392431C-E173-4E25-B23A-A1E949B5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0"/>
            <a:ext cx="160210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rPr sz="1050" b="0" i="0">
                <a:solidFill>
                  <a:srgbClr val="64748B"/>
                </a:solidFill>
              </a:rPr>
              <a:t>Repair Manager website report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EA8D6B4-03F8-4BD1-9424-E7DF64DA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601200"/>
            <a:ext cx="6667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rPr sz="1050" b="0" i="0">
                <a:solidFill>
                  <a:srgbClr val="64748B"/>
                </a:solidFill>
              </a:rPr>
              <a:t>10/10</a:t>
            </a:r>
          </a:p>
        </p:txBody>
      </p:sp>
    </p:spTree>
    <p:extLst>
      <p:ext uri="{BB962C8B-B14F-4D97-AF65-F5344CB8AC3E}">
        <p14:creationId xmlns:p14="http://schemas.microsoft.com/office/powerpoint/2010/main" val="9614244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2026-04-30T11:27:08.1600000Z</dcterms:created>
  <dcterms:modified xsi:type="dcterms:W3CDTF">2026-04-30T11:27:08.1600000Z</dcterms:modified>
</coreProperties>
</file>